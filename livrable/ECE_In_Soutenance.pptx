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0" y="1371600"/>
            <a:ext cx="12191695" cy="640080"/>
          </a:xfrm>
          <a:prstGeom prst="rect">
            <a:avLst/>
          </a:prstGeom>
          <a:noFill/>
        </p:spPr>
        <p:txBody>
          <a:bodyPr wrap="square">
            <a:spAutoFit/>
          </a:bodyPr>
          <a:lstStyle/>
          <a:p>
            <a:pPr algn="ctr">
              <a:defRPr sz="5400" b="1">
                <a:solidFill>
                  <a:srgbClr val="0A66C2"/>
                </a:solidFill>
              </a:defRPr>
            </a:pPr>
            <a:r>
              <a:t>ECE In</a:t>
            </a:r>
          </a:p>
        </p:txBody>
      </p:sp>
      <p:sp>
        <p:nvSpPr>
          <p:cNvPr id="3" name="TextBox 2"/>
          <p:cNvSpPr txBox="1"/>
          <p:nvPr/>
        </p:nvSpPr>
        <p:spPr>
          <a:xfrm>
            <a:off x="0" y="2103120"/>
            <a:ext cx="12191695" cy="548640"/>
          </a:xfrm>
          <a:prstGeom prst="rect">
            <a:avLst/>
          </a:prstGeom>
          <a:noFill/>
        </p:spPr>
        <p:txBody>
          <a:bodyPr wrap="square">
            <a:spAutoFit/>
          </a:bodyPr>
          <a:lstStyle/>
          <a:p>
            <a:pPr algn="ctr">
              <a:defRPr sz="3000" b="1">
                <a:solidFill>
                  <a:srgbClr val="FFFFFF"/>
                </a:solidFill>
              </a:defRPr>
            </a:pPr>
            <a:r>
              <a:t>Reseau Social Professionnel de l'ECE Paris</a:t>
            </a:r>
          </a:p>
        </p:txBody>
      </p:sp>
      <p:sp>
        <p:nvSpPr>
          <p:cNvPr id="4" name="TextBox 3"/>
          <p:cNvSpPr txBox="1"/>
          <p:nvPr/>
        </p:nvSpPr>
        <p:spPr>
          <a:xfrm>
            <a:off x="0" y="2926080"/>
            <a:ext cx="12191695" cy="457200"/>
          </a:xfrm>
          <a:prstGeom prst="rect">
            <a:avLst/>
          </a:prstGeom>
          <a:noFill/>
        </p:spPr>
        <p:txBody>
          <a:bodyPr wrap="square">
            <a:spAutoFit/>
          </a:bodyPr>
          <a:lstStyle/>
          <a:p>
            <a:pPr algn="ctr">
              <a:defRPr sz="2000" b="0">
                <a:solidFill>
                  <a:srgbClr val="AAAACC"/>
                </a:solidFill>
              </a:defRPr>
            </a:pPr>
            <a:r>
              <a:t>Projet Web Dynamique — ING2 2026</a:t>
            </a:r>
          </a:p>
        </p:txBody>
      </p:sp>
      <p:sp>
        <p:nvSpPr>
          <p:cNvPr id="5" name="TextBox 4"/>
          <p:cNvSpPr txBox="1"/>
          <p:nvPr/>
        </p:nvSpPr>
        <p:spPr>
          <a:xfrm>
            <a:off x="0" y="4114800"/>
            <a:ext cx="12191695" cy="365760"/>
          </a:xfrm>
          <a:prstGeom prst="rect">
            <a:avLst/>
          </a:prstGeom>
          <a:noFill/>
        </p:spPr>
        <p:txBody>
          <a:bodyPr wrap="square">
            <a:spAutoFit/>
          </a:bodyPr>
          <a:lstStyle/>
          <a:p>
            <a:pPr algn="ctr">
              <a:defRPr sz="2200" b="1">
                <a:solidFill>
                  <a:srgbClr val="FFFFFF"/>
                </a:solidFill>
              </a:defRPr>
            </a:pPr>
            <a:r>
              <a:t>Emmanuel ZERBIB  &amp;  Nikola VUCIC</a:t>
            </a:r>
          </a:p>
        </p:txBody>
      </p:sp>
      <p:sp>
        <p:nvSpPr>
          <p:cNvPr id="6" name="TextBox 5"/>
          <p:cNvSpPr txBox="1"/>
          <p:nvPr/>
        </p:nvSpPr>
        <p:spPr>
          <a:xfrm>
            <a:off x="0" y="4754880"/>
            <a:ext cx="12191695" cy="365760"/>
          </a:xfrm>
          <a:prstGeom prst="rect">
            <a:avLst/>
          </a:prstGeom>
          <a:noFill/>
        </p:spPr>
        <p:txBody>
          <a:bodyPr wrap="square">
            <a:spAutoFit/>
          </a:bodyPr>
          <a:lstStyle/>
          <a:p>
            <a:pPr algn="ctr">
              <a:defRPr sz="1600" b="0">
                <a:solidFill>
                  <a:srgbClr val="6C757D"/>
                </a:solidFill>
              </a:defRPr>
            </a:pPr>
            <a:r>
              <a:t>Mars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Sommaire</a:t>
            </a:r>
          </a:p>
        </p:txBody>
      </p:sp>
      <p:sp>
        <p:nvSpPr>
          <p:cNvPr id="5" name="TextBox 4"/>
          <p:cNvSpPr txBox="1"/>
          <p:nvPr/>
        </p:nvSpPr>
        <p:spPr>
          <a:xfrm>
            <a:off x="914400" y="1645920"/>
            <a:ext cx="10058400" cy="4572000"/>
          </a:xfrm>
          <a:prstGeom prst="rect">
            <a:avLst/>
          </a:prstGeom>
          <a:noFill/>
        </p:spPr>
        <p:txBody>
          <a:bodyPr wrap="square">
            <a:spAutoFit/>
          </a:bodyPr>
          <a:lstStyle/>
          <a:p>
            <a:pPr>
              <a:spcAft>
                <a:spcPts val="600"/>
              </a:spcAft>
              <a:defRPr sz="2000">
                <a:solidFill>
                  <a:srgbClr val="1A1A2E"/>
                </a:solidFill>
              </a:defRPr>
            </a:pPr>
            <a:r>
              <a:t>1.  Presentation du projet</a:t>
            </a:r>
          </a:p>
          <a:p>
            <a:pPr>
              <a:spcAft>
                <a:spcPts val="600"/>
              </a:spcAft>
              <a:defRPr sz="2000">
                <a:solidFill>
                  <a:srgbClr val="1A1A2E"/>
                </a:solidFill>
              </a:defRPr>
            </a:pPr>
            <a:r>
              <a:t>2.  Repartition du travail</a:t>
            </a:r>
          </a:p>
          <a:p>
            <a:pPr>
              <a:spcAft>
                <a:spcPts val="600"/>
              </a:spcAft>
              <a:defRPr sz="2000">
                <a:solidFill>
                  <a:srgbClr val="1A1A2E"/>
                </a:solidFill>
              </a:defRPr>
            </a:pPr>
            <a:r>
              <a:t>3.  Architecture du systeme</a:t>
            </a:r>
          </a:p>
          <a:p>
            <a:pPr>
              <a:spcAft>
                <a:spcPts val="600"/>
              </a:spcAft>
              <a:defRPr sz="2000">
                <a:solidFill>
                  <a:srgbClr val="1A1A2E"/>
                </a:solidFill>
              </a:defRPr>
            </a:pPr>
            <a:r>
              <a:t>4.  Conception du back-end (MCD + Modele Relationnel)</a:t>
            </a:r>
          </a:p>
          <a:p>
            <a:pPr>
              <a:spcAft>
                <a:spcPts val="600"/>
              </a:spcAft>
              <a:defRPr sz="2000">
                <a:solidFill>
                  <a:srgbClr val="1A1A2E"/>
                </a:solidFill>
              </a:defRPr>
            </a:pPr>
            <a:r>
              <a:t>5.  Design du front-end (Wireframes &amp; Storyboard)</a:t>
            </a:r>
          </a:p>
          <a:p>
            <a:pPr>
              <a:spcAft>
                <a:spcPts val="600"/>
              </a:spcAft>
              <a:defRPr sz="2000">
                <a:solidFill>
                  <a:srgbClr val="1A1A2E"/>
                </a:solidFill>
              </a:defRPr>
            </a:pPr>
            <a:r>
              <a:t>6.  Specifications fonctionnelles</a:t>
            </a:r>
          </a:p>
          <a:p>
            <a:pPr>
              <a:spcAft>
                <a:spcPts val="600"/>
              </a:spcAft>
              <a:defRPr sz="2000">
                <a:solidFill>
                  <a:srgbClr val="1A1A2E"/>
                </a:solidFill>
              </a:defRPr>
            </a:pPr>
            <a:r>
              <a:t>7.  Journal d'Assistance par IA</a:t>
            </a:r>
          </a:p>
          <a:p>
            <a:pPr>
              <a:spcAft>
                <a:spcPts val="600"/>
              </a:spcAft>
              <a:defRPr sz="2000">
                <a:solidFill>
                  <a:srgbClr val="1A1A2E"/>
                </a:solidFill>
              </a:defRPr>
            </a:pPr>
            <a:r>
              <a:t>8.  Versioning Git</a:t>
            </a:r>
          </a:p>
          <a:p>
            <a:pPr>
              <a:spcAft>
                <a:spcPts val="600"/>
              </a:spcAft>
              <a:defRPr sz="2000">
                <a:solidFill>
                  <a:srgbClr val="1A1A2E"/>
                </a:solidFill>
              </a:defRPr>
            </a:pPr>
            <a:r>
              <a:t>9.  Bilan individuel &amp; collectif</a:t>
            </a:r>
          </a:p>
          <a:p>
            <a:pPr>
              <a:spcAft>
                <a:spcPts val="600"/>
              </a:spcAft>
              <a:defRPr sz="2000">
                <a:solidFill>
                  <a:srgbClr val="1A1A2E"/>
                </a:solidFill>
              </a:defRPr>
            </a:pPr>
            <a:r>
              <a:t>10. References &amp; bibliographie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1. Presentation du projet</a:t>
            </a:r>
          </a:p>
        </p:txBody>
      </p:sp>
      <p:sp>
        <p:nvSpPr>
          <p:cNvPr id="5" name="TextBox 4"/>
          <p:cNvSpPr txBox="1"/>
          <p:nvPr/>
        </p:nvSpPr>
        <p:spPr>
          <a:xfrm>
            <a:off x="548640" y="822960"/>
            <a:ext cx="10972800" cy="274320"/>
          </a:xfrm>
          <a:prstGeom prst="rect">
            <a:avLst/>
          </a:prstGeom>
          <a:noFill/>
        </p:spPr>
        <p:txBody>
          <a:bodyPr wrap="square">
            <a:spAutoFit/>
          </a:bodyPr>
          <a:lstStyle/>
          <a:p>
            <a:pPr algn="l">
              <a:defRPr sz="1400" b="0">
                <a:solidFill>
                  <a:srgbClr val="AAAACC"/>
                </a:solidFill>
              </a:defRPr>
            </a:pPr>
            <a:r>
              <a:t>Contexte et objectifs</a:t>
            </a:r>
          </a:p>
        </p:txBody>
      </p:sp>
      <p:sp>
        <p:nvSpPr>
          <p:cNvPr id="6" name="TextBox 5"/>
          <p:cNvSpPr txBox="1"/>
          <p:nvPr/>
        </p:nvSpPr>
        <p:spPr>
          <a:xfrm>
            <a:off x="548640" y="1371600"/>
            <a:ext cx="10972800" cy="731520"/>
          </a:xfrm>
          <a:prstGeom prst="rect">
            <a:avLst/>
          </a:prstGeom>
          <a:noFill/>
        </p:spPr>
        <p:txBody>
          <a:bodyPr wrap="square">
            <a:spAutoFit/>
          </a:bodyPr>
          <a:lstStyle/>
          <a:p>
            <a:pPr algn="l">
              <a:defRPr sz="1600" b="0">
                <a:solidFill>
                  <a:srgbClr val="6C757D"/>
                </a:solidFill>
              </a:defRPr>
            </a:pPr>
            <a:r>
              <a:t>ECE In est un reseau social professionnel pour la communaute ECE Paris, inspire de LinkedIn. Il permet aux etudiants, enseignants et alumni de se connecter, partager des publications, rechercher des stages et emplois, communiquer par messagerie et generer leur CV.</a:t>
            </a:r>
          </a:p>
        </p:txBody>
      </p:sp>
      <p:sp>
        <p:nvSpPr>
          <p:cNvPr id="7" name="Rectangle 6"/>
          <p:cNvSpPr/>
          <p:nvPr/>
        </p:nvSpPr>
        <p:spPr>
          <a:xfrm>
            <a:off x="548640" y="2560320"/>
            <a:ext cx="3474720" cy="201168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651760"/>
            <a:ext cx="3200400" cy="320040"/>
          </a:xfrm>
          <a:prstGeom prst="rect">
            <a:avLst/>
          </a:prstGeom>
          <a:noFill/>
        </p:spPr>
        <p:txBody>
          <a:bodyPr wrap="square">
            <a:spAutoFit/>
          </a:bodyPr>
          <a:lstStyle/>
          <a:p>
            <a:pPr algn="l">
              <a:defRPr sz="1300" b="1">
                <a:solidFill>
                  <a:srgbClr val="0A66C2"/>
                </a:solidFill>
              </a:defRPr>
            </a:pPr>
            <a:r>
              <a:t>Pages principales</a:t>
            </a:r>
          </a:p>
        </p:txBody>
      </p:sp>
      <p:sp>
        <p:nvSpPr>
          <p:cNvPr id="9" name="TextBox 8"/>
          <p:cNvSpPr txBox="1"/>
          <p:nvPr/>
        </p:nvSpPr>
        <p:spPr>
          <a:xfrm>
            <a:off x="685800" y="2971800"/>
            <a:ext cx="3200400" cy="1508760"/>
          </a:xfrm>
          <a:prstGeom prst="rect">
            <a:avLst/>
          </a:prstGeom>
          <a:noFill/>
        </p:spPr>
        <p:txBody>
          <a:bodyPr wrap="square">
            <a:spAutoFit/>
          </a:bodyPr>
          <a:lstStyle/>
          <a:p>
            <a:pPr>
              <a:spcAft>
                <a:spcPts val="600"/>
              </a:spcAft>
              <a:defRPr sz="1100">
                <a:solidFill>
                  <a:srgbClr val="6C757D"/>
                </a:solidFill>
              </a:defRPr>
            </a:pPr>
            <a:r>
              <a:t>Accueil (fil d'actualite)</a:t>
            </a:r>
          </a:p>
          <a:p>
            <a:pPr>
              <a:spcAft>
                <a:spcPts val="600"/>
              </a:spcAft>
              <a:defRPr sz="1100">
                <a:solidFill>
                  <a:srgbClr val="6C757D"/>
                </a:solidFill>
              </a:defRPr>
            </a:pPr>
            <a:r>
              <a:t>Mon Reseau (amis)</a:t>
            </a:r>
          </a:p>
          <a:p>
            <a:pPr>
              <a:spcAft>
                <a:spcPts val="600"/>
              </a:spcAft>
              <a:defRPr sz="1100">
                <a:solidFill>
                  <a:srgbClr val="6C757D"/>
                </a:solidFill>
              </a:defRPr>
            </a:pPr>
            <a:r>
              <a:t>Profil (7 onglets)</a:t>
            </a:r>
          </a:p>
          <a:p>
            <a:pPr>
              <a:spcAft>
                <a:spcPts val="600"/>
              </a:spcAft>
              <a:defRPr sz="1100">
                <a:solidFill>
                  <a:srgbClr val="6C757D"/>
                </a:solidFill>
              </a:defRPr>
            </a:pPr>
            <a:r>
              <a:t>Messagerie + Appels</a:t>
            </a:r>
          </a:p>
          <a:p>
            <a:pPr>
              <a:spcAft>
                <a:spcPts val="600"/>
              </a:spcAft>
              <a:defRPr sz="1100">
                <a:solidFill>
                  <a:srgbClr val="6C757D"/>
                </a:solidFill>
              </a:defRPr>
            </a:pPr>
            <a:r>
              <a:t>Notifications</a:t>
            </a:r>
          </a:p>
          <a:p>
            <a:pPr>
              <a:spcAft>
                <a:spcPts val="600"/>
              </a:spcAft>
              <a:defRPr sz="1100">
                <a:solidFill>
                  <a:srgbClr val="6C757D"/>
                </a:solidFill>
              </a:defRPr>
            </a:pPr>
            <a:r>
              <a:t>Emplois &amp; Stages</a:t>
            </a:r>
          </a:p>
        </p:txBody>
      </p:sp>
      <p:sp>
        <p:nvSpPr>
          <p:cNvPr id="10" name="Rectangle 9"/>
          <p:cNvSpPr/>
          <p:nvPr/>
        </p:nvSpPr>
        <p:spPr>
          <a:xfrm>
            <a:off x="4389120" y="2560320"/>
            <a:ext cx="3474720" cy="201168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2651760"/>
            <a:ext cx="3200400" cy="320040"/>
          </a:xfrm>
          <a:prstGeom prst="rect">
            <a:avLst/>
          </a:prstGeom>
          <a:noFill/>
        </p:spPr>
        <p:txBody>
          <a:bodyPr wrap="square">
            <a:spAutoFit/>
          </a:bodyPr>
          <a:lstStyle/>
          <a:p>
            <a:pPr algn="l">
              <a:defRPr sz="1300" b="1">
                <a:solidFill>
                  <a:srgbClr val="0A66C2"/>
                </a:solidFill>
              </a:defRPr>
            </a:pPr>
            <a:r>
              <a:t>Fonctionnalites cles</a:t>
            </a:r>
          </a:p>
        </p:txBody>
      </p:sp>
      <p:sp>
        <p:nvSpPr>
          <p:cNvPr id="12" name="TextBox 11"/>
          <p:cNvSpPr txBox="1"/>
          <p:nvPr/>
        </p:nvSpPr>
        <p:spPr>
          <a:xfrm>
            <a:off x="4526280" y="2971800"/>
            <a:ext cx="3200400" cy="1508760"/>
          </a:xfrm>
          <a:prstGeom prst="rect">
            <a:avLst/>
          </a:prstGeom>
          <a:noFill/>
        </p:spPr>
        <p:txBody>
          <a:bodyPr wrap="square">
            <a:spAutoFit/>
          </a:bodyPr>
          <a:lstStyle/>
          <a:p>
            <a:pPr>
              <a:spcAft>
                <a:spcPts val="600"/>
              </a:spcAft>
              <a:defRPr sz="1100">
                <a:solidFill>
                  <a:srgbClr val="6C757D"/>
                </a:solidFill>
              </a:defRPr>
            </a:pPr>
            <a:r>
              <a:t>Publications (photo, video, CV, evenement)</a:t>
            </a:r>
          </a:p>
          <a:p>
            <a:pPr>
              <a:spcAft>
                <a:spcPts val="600"/>
              </a:spcAft>
              <a:defRPr sz="1100">
                <a:solidFill>
                  <a:srgbClr val="6C757D"/>
                </a:solidFill>
              </a:defRPr>
            </a:pPr>
            <a:r>
              <a:t>Reactions &amp; commentaires</a:t>
            </a:r>
          </a:p>
          <a:p>
            <a:pPr>
              <a:spcAft>
                <a:spcPts val="600"/>
              </a:spcAft>
              <a:defRPr sz="1100">
                <a:solidFill>
                  <a:srgbClr val="6C757D"/>
                </a:solidFill>
              </a:defRPr>
            </a:pPr>
            <a:r>
              <a:t>Visibilite (public/amis/prive)</a:t>
            </a:r>
          </a:p>
          <a:p>
            <a:pPr>
              <a:spcAft>
                <a:spcPts val="600"/>
              </a:spcAft>
              <a:defRPr sz="1100">
                <a:solidFill>
                  <a:srgbClr val="6C757D"/>
                </a:solidFill>
              </a:defRPr>
            </a:pPr>
            <a:r>
              <a:t>Generation CV (HTML, PDF, XML)</a:t>
            </a:r>
          </a:p>
          <a:p>
            <a:pPr>
              <a:spcAft>
                <a:spcPts val="600"/>
              </a:spcAft>
              <a:defRPr sz="1100">
                <a:solidFill>
                  <a:srgbClr val="6C757D"/>
                </a:solidFill>
              </a:defRPr>
            </a:pPr>
            <a:r>
              <a:t>Albums photo</a:t>
            </a:r>
          </a:p>
          <a:p>
            <a:pPr>
              <a:spcAft>
                <a:spcPts val="600"/>
              </a:spcAft>
              <a:defRPr sz="1100">
                <a:solidFill>
                  <a:srgbClr val="6C757D"/>
                </a:solidFill>
              </a:defRPr>
            </a:pPr>
            <a:r>
              <a:t>Themes saisonniers (Noel, St-Valentin)</a:t>
            </a:r>
          </a:p>
        </p:txBody>
      </p:sp>
      <p:sp>
        <p:nvSpPr>
          <p:cNvPr id="13" name="Rectangle 12"/>
          <p:cNvSpPr/>
          <p:nvPr/>
        </p:nvSpPr>
        <p:spPr>
          <a:xfrm>
            <a:off x="8229600" y="2560320"/>
            <a:ext cx="3474720" cy="201168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6760" y="2651760"/>
            <a:ext cx="3200400" cy="320040"/>
          </a:xfrm>
          <a:prstGeom prst="rect">
            <a:avLst/>
          </a:prstGeom>
          <a:noFill/>
        </p:spPr>
        <p:txBody>
          <a:bodyPr wrap="square">
            <a:spAutoFit/>
          </a:bodyPr>
          <a:lstStyle/>
          <a:p>
            <a:pPr algn="l">
              <a:defRPr sz="1300" b="1">
                <a:solidFill>
                  <a:srgbClr val="0A66C2"/>
                </a:solidFill>
              </a:defRPr>
            </a:pPr>
            <a:r>
              <a:t>Technologies</a:t>
            </a:r>
          </a:p>
        </p:txBody>
      </p:sp>
      <p:sp>
        <p:nvSpPr>
          <p:cNvPr id="15" name="TextBox 14"/>
          <p:cNvSpPr txBox="1"/>
          <p:nvPr/>
        </p:nvSpPr>
        <p:spPr>
          <a:xfrm>
            <a:off x="8366760" y="2971800"/>
            <a:ext cx="3200400" cy="1508760"/>
          </a:xfrm>
          <a:prstGeom prst="rect">
            <a:avLst/>
          </a:prstGeom>
          <a:noFill/>
        </p:spPr>
        <p:txBody>
          <a:bodyPr wrap="square">
            <a:spAutoFit/>
          </a:bodyPr>
          <a:lstStyle/>
          <a:p>
            <a:pPr>
              <a:spcAft>
                <a:spcPts val="600"/>
              </a:spcAft>
              <a:defRPr sz="1100">
                <a:solidFill>
                  <a:srgbClr val="6C757D"/>
                </a:solidFill>
              </a:defRPr>
            </a:pPr>
            <a:r>
              <a:t>PHP 8.3 + MySQL 8</a:t>
            </a:r>
          </a:p>
          <a:p>
            <a:pPr>
              <a:spcAft>
                <a:spcPts val="600"/>
              </a:spcAft>
              <a:defRPr sz="1100">
                <a:solidFill>
                  <a:srgbClr val="6C757D"/>
                </a:solidFill>
              </a:defRPr>
            </a:pPr>
            <a:r>
              <a:t>Bootstrap 5 + jQuery</a:t>
            </a:r>
          </a:p>
          <a:p>
            <a:pPr>
              <a:spcAft>
                <a:spcPts val="600"/>
              </a:spcAft>
              <a:defRPr sz="1100">
                <a:solidFill>
                  <a:srgbClr val="6C757D"/>
                </a:solidFill>
              </a:defRPr>
            </a:pPr>
            <a:r>
              <a:t>AJAX (API JSON)</a:t>
            </a:r>
          </a:p>
          <a:p>
            <a:pPr>
              <a:spcAft>
                <a:spcPts val="600"/>
              </a:spcAft>
              <a:defRPr sz="1100">
                <a:solidFill>
                  <a:srgbClr val="6C757D"/>
                </a:solidFill>
              </a:defRPr>
            </a:pPr>
            <a:r>
              <a:t>PDO + bcrypt</a:t>
            </a:r>
          </a:p>
          <a:p>
            <a:pPr>
              <a:spcAft>
                <a:spcPts val="600"/>
              </a:spcAft>
              <a:defRPr sz="1100">
                <a:solidFill>
                  <a:srgbClr val="6C757D"/>
                </a:solidFill>
              </a:defRPr>
            </a:pPr>
            <a:r>
              <a:t>Railway (deploiement)</a:t>
            </a:r>
          </a:p>
          <a:p>
            <a:pPr>
              <a:spcAft>
                <a:spcPts val="600"/>
              </a:spcAft>
              <a:defRPr sz="1100">
                <a:solidFill>
                  <a:srgbClr val="6C757D"/>
                </a:solidFill>
              </a:defRPr>
            </a:pPr>
            <a:r>
              <a:t>Git (versioning)</a:t>
            </a:r>
          </a:p>
        </p:txBody>
      </p:sp>
      <p:sp>
        <p:nvSpPr>
          <p:cNvPr id="16" name="TextBox 15"/>
          <p:cNvSpPr txBox="1"/>
          <p:nvPr/>
        </p:nvSpPr>
        <p:spPr>
          <a:xfrm>
            <a:off x="548640" y="4846320"/>
            <a:ext cx="10972800" cy="365760"/>
          </a:xfrm>
          <a:prstGeom prst="rect">
            <a:avLst/>
          </a:prstGeom>
          <a:noFill/>
        </p:spPr>
        <p:txBody>
          <a:bodyPr wrap="square">
            <a:spAutoFit/>
          </a:bodyPr>
          <a:lstStyle/>
          <a:p>
            <a:pPr algn="l">
              <a:defRPr sz="1500" b="1">
                <a:solidFill>
                  <a:srgbClr val="1A1A2E"/>
                </a:solidFill>
              </a:defRPr>
            </a:pPr>
            <a:r>
              <a:t>2 roles : Auteur (utilisateur standard) et Administrateur (gestion de la plateforme)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2. Repartition du travail</a:t>
            </a:r>
          </a:p>
        </p:txBody>
      </p:sp>
      <p:sp>
        <p:nvSpPr>
          <p:cNvPr id="5" name="Rectangle 4"/>
          <p:cNvSpPr/>
          <p:nvPr/>
        </p:nvSpPr>
        <p:spPr>
          <a:xfrm>
            <a:off x="548640" y="1371600"/>
            <a:ext cx="5303520" cy="475488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4937760" cy="365760"/>
          </a:xfrm>
          <a:prstGeom prst="rect">
            <a:avLst/>
          </a:prstGeom>
          <a:noFill/>
        </p:spPr>
        <p:txBody>
          <a:bodyPr wrap="square">
            <a:spAutoFit/>
          </a:bodyPr>
          <a:lstStyle/>
          <a:p>
            <a:pPr algn="l">
              <a:defRPr sz="2200" b="1">
                <a:solidFill>
                  <a:srgbClr val="0A66C2"/>
                </a:solidFill>
              </a:defRPr>
            </a:pPr>
            <a:r>
              <a:t>Emmanuel ZERBIB</a:t>
            </a:r>
          </a:p>
        </p:txBody>
      </p:sp>
      <p:sp>
        <p:nvSpPr>
          <p:cNvPr id="7" name="TextBox 6"/>
          <p:cNvSpPr txBox="1"/>
          <p:nvPr/>
        </p:nvSpPr>
        <p:spPr>
          <a:xfrm>
            <a:off x="731520" y="1920240"/>
            <a:ext cx="4937760" cy="4114800"/>
          </a:xfrm>
          <a:prstGeom prst="rect">
            <a:avLst/>
          </a:prstGeom>
          <a:noFill/>
        </p:spPr>
        <p:txBody>
          <a:bodyPr wrap="square">
            <a:spAutoFit/>
          </a:bodyPr>
          <a:lstStyle/>
          <a:p>
            <a:pPr>
              <a:spcAft>
                <a:spcPts val="600"/>
              </a:spcAft>
              <a:defRPr sz="1400">
                <a:solidFill>
                  <a:srgbClr val="1A1A2E"/>
                </a:solidFill>
              </a:defRPr>
            </a:pPr>
            <a:r>
              <a:t>Front-end : integration Bootstrap 5, pages PHP</a:t>
            </a:r>
          </a:p>
          <a:p>
            <a:pPr>
              <a:spcAft>
                <a:spcPts val="600"/>
              </a:spcAft>
              <a:defRPr sz="1400">
                <a:solidFill>
                  <a:srgbClr val="1A1A2E"/>
                </a:solidFill>
              </a:defRPr>
            </a:pPr>
            <a:r>
              <a:t>  (index, profil, messagerie, emplois, recherche)</a:t>
            </a:r>
          </a:p>
          <a:p>
            <a:pPr>
              <a:spcAft>
                <a:spcPts val="600"/>
              </a:spcAft>
              <a:defRPr sz="1400">
                <a:solidFill>
                  <a:srgbClr val="1A1A2E"/>
                </a:solidFill>
              </a:defRPr>
            </a:pPr>
            <a:r>
              <a:t>Back-end : API AJAX, logique metier PHP</a:t>
            </a:r>
          </a:p>
          <a:p>
            <a:pPr>
              <a:spcAft>
                <a:spcPts val="600"/>
              </a:spcAft>
              <a:defRPr sz="1400">
                <a:solidFill>
                  <a:srgbClr val="1A1A2E"/>
                </a:solidFill>
              </a:defRPr>
            </a:pPr>
            <a:r>
              <a:t>  (publications, reactions, commentaires, messages)</a:t>
            </a:r>
          </a:p>
          <a:p>
            <a:pPr>
              <a:spcAft>
                <a:spcPts val="600"/>
              </a:spcAft>
              <a:defRPr sz="1400">
                <a:solidFill>
                  <a:srgbClr val="1A1A2E"/>
                </a:solidFill>
              </a:defRPr>
            </a:pPr>
            <a:r>
              <a:t>Deploiement : configuration Railway + Nixpacks</a:t>
            </a:r>
          </a:p>
          <a:p>
            <a:pPr>
              <a:spcAft>
                <a:spcPts val="600"/>
              </a:spcAft>
              <a:defRPr sz="1400">
                <a:solidFill>
                  <a:srgbClr val="1A1A2E"/>
                </a:solidFill>
              </a:defRPr>
            </a:pPr>
            <a:r>
              <a:t>Messagerie en temps reel (polling AJAX)</a:t>
            </a:r>
          </a:p>
          <a:p>
            <a:pPr>
              <a:spcAft>
                <a:spcPts val="600"/>
              </a:spcAft>
              <a:defRPr sz="1400">
                <a:solidFill>
                  <a:srgbClr val="1A1A2E"/>
                </a:solidFill>
              </a:defRPr>
            </a:pPr>
            <a:r>
              <a:t>Appels audio/video (interface + API)</a:t>
            </a:r>
          </a:p>
          <a:p>
            <a:pPr>
              <a:spcAft>
                <a:spcPts val="600"/>
              </a:spcAft>
              <a:defRPr sz="1400">
                <a:solidFill>
                  <a:srgbClr val="1A1A2E"/>
                </a:solidFill>
              </a:defRPr>
            </a:pPr>
            <a:r>
              <a:t>Themes saisonniers CSS (Noel, Saint-Valentin)</a:t>
            </a:r>
          </a:p>
          <a:p>
            <a:pPr>
              <a:spcAft>
                <a:spcPts val="600"/>
              </a:spcAft>
              <a:defRPr sz="1400">
                <a:solidFill>
                  <a:srgbClr val="1A1A2E"/>
                </a:solidFill>
              </a:defRPr>
            </a:pPr>
            <a:r>
              <a:t>Adaptation mobile (responsive + bottom tab bar)</a:t>
            </a:r>
          </a:p>
          <a:p>
            <a:pPr>
              <a:spcAft>
                <a:spcPts val="600"/>
              </a:spcAft>
              <a:defRPr sz="1400">
                <a:solidFill>
                  <a:srgbClr val="1A1A2E"/>
                </a:solidFill>
              </a:defRPr>
            </a:pPr>
            <a:r>
              <a:t>Debug et integration continue</a:t>
            </a:r>
          </a:p>
        </p:txBody>
      </p:sp>
      <p:sp>
        <p:nvSpPr>
          <p:cNvPr id="8" name="Rectangle 7"/>
          <p:cNvSpPr/>
          <p:nvPr/>
        </p:nvSpPr>
        <p:spPr>
          <a:xfrm>
            <a:off x="6217920" y="1371600"/>
            <a:ext cx="5303520" cy="475488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63040"/>
            <a:ext cx="4937760" cy="365760"/>
          </a:xfrm>
          <a:prstGeom prst="rect">
            <a:avLst/>
          </a:prstGeom>
          <a:noFill/>
        </p:spPr>
        <p:txBody>
          <a:bodyPr wrap="square">
            <a:spAutoFit/>
          </a:bodyPr>
          <a:lstStyle/>
          <a:p>
            <a:pPr algn="l">
              <a:defRPr sz="2200" b="1">
                <a:solidFill>
                  <a:srgbClr val="0A66C2"/>
                </a:solidFill>
              </a:defRPr>
            </a:pPr>
            <a:r>
              <a:t>Nikola VUCIC</a:t>
            </a:r>
          </a:p>
        </p:txBody>
      </p:sp>
      <p:sp>
        <p:nvSpPr>
          <p:cNvPr id="10" name="TextBox 9"/>
          <p:cNvSpPr txBox="1"/>
          <p:nvPr/>
        </p:nvSpPr>
        <p:spPr>
          <a:xfrm>
            <a:off x="6400800" y="1920240"/>
            <a:ext cx="4937760" cy="4114800"/>
          </a:xfrm>
          <a:prstGeom prst="rect">
            <a:avLst/>
          </a:prstGeom>
          <a:noFill/>
        </p:spPr>
        <p:txBody>
          <a:bodyPr wrap="square">
            <a:spAutoFit/>
          </a:bodyPr>
          <a:lstStyle/>
          <a:p>
            <a:pPr>
              <a:spcAft>
                <a:spcPts val="600"/>
              </a:spcAft>
              <a:defRPr sz="1400">
                <a:solidFill>
                  <a:srgbClr val="1A1A2E"/>
                </a:solidFill>
              </a:defRPr>
            </a:pPr>
            <a:r>
              <a:t>Conception base de donnees : MCD, modele relationnel</a:t>
            </a:r>
          </a:p>
          <a:p>
            <a:pPr>
              <a:spcAft>
                <a:spcPts val="600"/>
              </a:spcAft>
              <a:defRPr sz="1400">
                <a:solidFill>
                  <a:srgbClr val="1A1A2E"/>
                </a:solidFill>
              </a:defRPr>
            </a:pPr>
            <a:r>
              <a:t>  schema.sql (16 tables, FK, contraintes)</a:t>
            </a:r>
          </a:p>
          <a:p>
            <a:pPr>
              <a:spcAft>
                <a:spcPts val="600"/>
              </a:spcAft>
              <a:defRPr sz="1400">
                <a:solidFill>
                  <a:srgbClr val="1A1A2E"/>
                </a:solidFill>
              </a:defRPr>
            </a:pPr>
            <a:r>
              <a:t>Back-end : systeme d'authentification (bcrypt, sessions)</a:t>
            </a:r>
          </a:p>
          <a:p>
            <a:pPr>
              <a:spcAft>
                <a:spcPts val="600"/>
              </a:spcAft>
              <a:defRPr sz="1400">
                <a:solidFill>
                  <a:srgbClr val="1A1A2E"/>
                </a:solidFill>
              </a:defRPr>
            </a:pPr>
            <a:r>
              <a:t>  Panel d'administration (gestion utilisateurs)</a:t>
            </a:r>
          </a:p>
          <a:p>
            <a:pPr>
              <a:spcAft>
                <a:spcPts val="600"/>
              </a:spcAft>
              <a:defRPr sz="1400">
                <a:solidFill>
                  <a:srgbClr val="1A1A2E"/>
                </a:solidFill>
              </a:defRPr>
            </a:pPr>
            <a:r>
              <a:t>Generation de CV : HTML, PDF, XML + import XML</a:t>
            </a:r>
          </a:p>
          <a:p>
            <a:pPr>
              <a:spcAft>
                <a:spcPts val="600"/>
              </a:spcAft>
              <a:defRPr sz="1400">
                <a:solidFill>
                  <a:srgbClr val="1A1A2E"/>
                </a:solidFill>
              </a:defRPr>
            </a:pPr>
            <a:r>
              <a:t>Systeme de notifications (8 types)</a:t>
            </a:r>
          </a:p>
          <a:p>
            <a:pPr>
              <a:spcAft>
                <a:spcPts val="600"/>
              </a:spcAft>
              <a:defRPr sz="1400">
                <a:solidFill>
                  <a:srgbClr val="1A1A2E"/>
                </a:solidFill>
              </a:defRPr>
            </a:pPr>
            <a:r>
              <a:t>Gestion du reseau (demandes d'amis, suggestions)</a:t>
            </a:r>
          </a:p>
          <a:p>
            <a:pPr>
              <a:spcAft>
                <a:spcPts val="600"/>
              </a:spcAft>
              <a:defRPr sz="1400">
                <a:solidFill>
                  <a:srgbClr val="1A1A2E"/>
                </a:solidFill>
              </a:defRPr>
            </a:pPr>
            <a:r>
              <a:t>Donnees de test (seed) et dump SQL</a:t>
            </a:r>
          </a:p>
          <a:p>
            <a:pPr>
              <a:spcAft>
                <a:spcPts val="600"/>
              </a:spcAft>
              <a:defRPr sz="1400">
                <a:solidFill>
                  <a:srgbClr val="1A1A2E"/>
                </a:solidFill>
              </a:defRPr>
            </a:pPr>
            <a:r>
              <a:t>Specifications fonctionnelles + documentation</a:t>
            </a:r>
          </a:p>
          <a:p>
            <a:pPr>
              <a:spcAft>
                <a:spcPts val="600"/>
              </a:spcAft>
              <a:defRPr sz="1400">
                <a:solidFill>
                  <a:srgbClr val="1A1A2E"/>
                </a:solidFill>
              </a:defRPr>
            </a:pPr>
            <a:r>
              <a:t>Tests fonctionnels et corrections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3. Architecture du systeme</a:t>
            </a:r>
          </a:p>
        </p:txBody>
      </p:sp>
      <p:sp>
        <p:nvSpPr>
          <p:cNvPr id="5" name="TextBox 4"/>
          <p:cNvSpPr txBox="1"/>
          <p:nvPr/>
        </p:nvSpPr>
        <p:spPr>
          <a:xfrm>
            <a:off x="548640" y="822960"/>
            <a:ext cx="10972800" cy="274320"/>
          </a:xfrm>
          <a:prstGeom prst="rect">
            <a:avLst/>
          </a:prstGeom>
          <a:noFill/>
        </p:spPr>
        <p:txBody>
          <a:bodyPr wrap="square">
            <a:spAutoFit/>
          </a:bodyPr>
          <a:lstStyle/>
          <a:p>
            <a:pPr algn="l">
              <a:defRPr sz="1400" b="0">
                <a:solidFill>
                  <a:srgbClr val="AAAACC"/>
                </a:solidFill>
              </a:defRPr>
            </a:pPr>
            <a:r>
              <a:t>Architecture 3 tiers — Client / Serveur / Donnees</a:t>
            </a:r>
          </a:p>
        </p:txBody>
      </p:sp>
      <p:sp>
        <p:nvSpPr>
          <p:cNvPr id="6" name="Rectangle 5"/>
          <p:cNvSpPr/>
          <p:nvPr/>
        </p:nvSpPr>
        <p:spPr>
          <a:xfrm>
            <a:off x="457200" y="1463040"/>
            <a:ext cx="3474720" cy="164592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08760"/>
            <a:ext cx="3108960" cy="320040"/>
          </a:xfrm>
          <a:prstGeom prst="rect">
            <a:avLst/>
          </a:prstGeom>
          <a:noFill/>
        </p:spPr>
        <p:txBody>
          <a:bodyPr wrap="square">
            <a:spAutoFit/>
          </a:bodyPr>
          <a:lstStyle/>
          <a:p>
            <a:pPr algn="l">
              <a:defRPr sz="1600" b="1">
                <a:solidFill>
                  <a:srgbClr val="0A66C2"/>
                </a:solidFill>
              </a:defRPr>
            </a:pPr>
            <a:r>
              <a:t>Couche Client (Navigateur)</a:t>
            </a:r>
          </a:p>
        </p:txBody>
      </p:sp>
      <p:sp>
        <p:nvSpPr>
          <p:cNvPr id="8" name="TextBox 7"/>
          <p:cNvSpPr txBox="1"/>
          <p:nvPr/>
        </p:nvSpPr>
        <p:spPr>
          <a:xfrm>
            <a:off x="640080" y="1828800"/>
            <a:ext cx="3108960" cy="1188720"/>
          </a:xfrm>
          <a:prstGeom prst="rect">
            <a:avLst/>
          </a:prstGeom>
          <a:noFill/>
        </p:spPr>
        <p:txBody>
          <a:bodyPr wrap="square">
            <a:spAutoFit/>
          </a:bodyPr>
          <a:lstStyle/>
          <a:p>
            <a:pPr>
              <a:spcAft>
                <a:spcPts val="600"/>
              </a:spcAft>
              <a:defRPr sz="1300">
                <a:solidFill>
                  <a:srgbClr val="1A1A2E"/>
                </a:solidFill>
              </a:defRPr>
            </a:pPr>
            <a:r>
              <a:t>HTML5 / CSS3</a:t>
            </a:r>
          </a:p>
          <a:p>
            <a:pPr>
              <a:spcAft>
                <a:spcPts val="600"/>
              </a:spcAft>
              <a:defRPr sz="1300">
                <a:solidFill>
                  <a:srgbClr val="1A1A2E"/>
                </a:solidFill>
              </a:defRPr>
            </a:pPr>
            <a:r>
              <a:t>Bootstrap 5.3 (responsive)</a:t>
            </a:r>
          </a:p>
          <a:p>
            <a:pPr>
              <a:spcAft>
                <a:spcPts val="600"/>
              </a:spcAft>
              <a:defRPr sz="1300">
                <a:solidFill>
                  <a:srgbClr val="1A1A2E"/>
                </a:solidFill>
              </a:defRPr>
            </a:pPr>
            <a:r>
              <a:t>JavaScript / jQuery (AJAX)</a:t>
            </a:r>
          </a:p>
          <a:p>
            <a:pPr>
              <a:spcAft>
                <a:spcPts val="600"/>
              </a:spcAft>
              <a:defRPr sz="1300">
                <a:solidFill>
                  <a:srgbClr val="1A1A2E"/>
                </a:solidFill>
              </a:defRPr>
            </a:pPr>
            <a:r>
              <a:t>Bootstrap Icons 1.11</a:t>
            </a:r>
          </a:p>
        </p:txBody>
      </p:sp>
      <p:sp>
        <p:nvSpPr>
          <p:cNvPr id="9" name="Rectangle 8"/>
          <p:cNvSpPr/>
          <p:nvPr/>
        </p:nvSpPr>
        <p:spPr>
          <a:xfrm>
            <a:off x="4297680" y="1463040"/>
            <a:ext cx="3840480" cy="164592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508760"/>
            <a:ext cx="3474720" cy="320040"/>
          </a:xfrm>
          <a:prstGeom prst="rect">
            <a:avLst/>
          </a:prstGeom>
          <a:noFill/>
        </p:spPr>
        <p:txBody>
          <a:bodyPr wrap="square">
            <a:spAutoFit/>
          </a:bodyPr>
          <a:lstStyle/>
          <a:p>
            <a:pPr algn="l">
              <a:defRPr sz="1600" b="1">
                <a:solidFill>
                  <a:srgbClr val="198754"/>
                </a:solidFill>
              </a:defRPr>
            </a:pPr>
            <a:r>
              <a:t>Couche Serveur (PHP 8.3)</a:t>
            </a:r>
          </a:p>
        </p:txBody>
      </p:sp>
      <p:sp>
        <p:nvSpPr>
          <p:cNvPr id="11" name="TextBox 10"/>
          <p:cNvSpPr txBox="1"/>
          <p:nvPr/>
        </p:nvSpPr>
        <p:spPr>
          <a:xfrm>
            <a:off x="4480560" y="1828800"/>
            <a:ext cx="3474720" cy="1188720"/>
          </a:xfrm>
          <a:prstGeom prst="rect">
            <a:avLst/>
          </a:prstGeom>
          <a:noFill/>
        </p:spPr>
        <p:txBody>
          <a:bodyPr wrap="square">
            <a:spAutoFit/>
          </a:bodyPr>
          <a:lstStyle/>
          <a:p>
            <a:pPr>
              <a:spcAft>
                <a:spcPts val="600"/>
              </a:spcAft>
              <a:defRPr sz="1300">
                <a:solidFill>
                  <a:srgbClr val="1A1A2E"/>
                </a:solidFill>
              </a:defRPr>
            </a:pPr>
            <a:r>
              <a:t>10 pages PHP (front controller)</a:t>
            </a:r>
          </a:p>
          <a:p>
            <a:pPr>
              <a:spcAft>
                <a:spcPts val="600"/>
              </a:spcAft>
              <a:defRPr sz="1300">
                <a:solidFill>
                  <a:srgbClr val="1A1A2E"/>
                </a:solidFill>
              </a:defRPr>
            </a:pPr>
            <a:r>
              <a:t>9 API endpoints (JSON/AJAX)</a:t>
            </a:r>
          </a:p>
          <a:p>
            <a:pPr>
              <a:spcAft>
                <a:spcPts val="600"/>
              </a:spcAft>
              <a:defRPr sz="1300">
                <a:solidFill>
                  <a:srgbClr val="1A1A2E"/>
                </a:solidFill>
              </a:defRPr>
            </a:pPr>
            <a:r>
              <a:t>Sessions + bcrypt</a:t>
            </a:r>
          </a:p>
          <a:p>
            <a:pPr>
              <a:spcAft>
                <a:spcPts val="600"/>
              </a:spcAft>
              <a:defRPr sz="1300">
                <a:solidFill>
                  <a:srgbClr val="1A1A2E"/>
                </a:solidFill>
              </a:defRPr>
            </a:pPr>
            <a:r>
              <a:t>PDO (requetes preparees)</a:t>
            </a:r>
          </a:p>
        </p:txBody>
      </p:sp>
      <p:sp>
        <p:nvSpPr>
          <p:cNvPr id="12" name="Rectangle 11"/>
          <p:cNvSpPr/>
          <p:nvPr/>
        </p:nvSpPr>
        <p:spPr>
          <a:xfrm>
            <a:off x="8503920" y="1463040"/>
            <a:ext cx="3200400" cy="164592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1508760"/>
            <a:ext cx="2834640" cy="320040"/>
          </a:xfrm>
          <a:prstGeom prst="rect">
            <a:avLst/>
          </a:prstGeom>
          <a:noFill/>
        </p:spPr>
        <p:txBody>
          <a:bodyPr wrap="square">
            <a:spAutoFit/>
          </a:bodyPr>
          <a:lstStyle/>
          <a:p>
            <a:pPr algn="l">
              <a:defRPr sz="1600" b="1">
                <a:solidFill>
                  <a:srgbClr val="856404"/>
                </a:solidFill>
              </a:defRPr>
            </a:pPr>
            <a:r>
              <a:t>Couche Donnees (MySQL 8)</a:t>
            </a:r>
          </a:p>
        </p:txBody>
      </p:sp>
      <p:sp>
        <p:nvSpPr>
          <p:cNvPr id="14" name="TextBox 13"/>
          <p:cNvSpPr txBox="1"/>
          <p:nvPr/>
        </p:nvSpPr>
        <p:spPr>
          <a:xfrm>
            <a:off x="8686800" y="1828800"/>
            <a:ext cx="2834640" cy="1188720"/>
          </a:xfrm>
          <a:prstGeom prst="rect">
            <a:avLst/>
          </a:prstGeom>
          <a:noFill/>
        </p:spPr>
        <p:txBody>
          <a:bodyPr wrap="square">
            <a:spAutoFit/>
          </a:bodyPr>
          <a:lstStyle/>
          <a:p>
            <a:pPr>
              <a:spcAft>
                <a:spcPts val="600"/>
              </a:spcAft>
              <a:defRPr sz="1300">
                <a:solidFill>
                  <a:srgbClr val="1A1A2E"/>
                </a:solidFill>
              </a:defRPr>
            </a:pPr>
            <a:r>
              <a:t>Base 'ecein' (InnoDB, utf8mb4)</a:t>
            </a:r>
          </a:p>
          <a:p>
            <a:pPr>
              <a:spcAft>
                <a:spcPts val="600"/>
              </a:spcAft>
              <a:defRPr sz="1300">
                <a:solidFill>
                  <a:srgbClr val="1A1A2E"/>
                </a:solidFill>
              </a:defRPr>
            </a:pPr>
            <a:r>
              <a:t>16 tables avec FK</a:t>
            </a:r>
          </a:p>
          <a:p>
            <a:pPr>
              <a:spcAft>
                <a:spcPts val="600"/>
              </a:spcAft>
              <a:defRPr sz="1300">
                <a:solidFill>
                  <a:srgbClr val="1A1A2E"/>
                </a:solidFill>
              </a:defRPr>
            </a:pPr>
            <a:r>
              <a:t>ON DELETE CASCADE</a:t>
            </a:r>
          </a:p>
          <a:p>
            <a:pPr>
              <a:spcAft>
                <a:spcPts val="600"/>
              </a:spcAft>
              <a:defRPr sz="1300">
                <a:solidFill>
                  <a:srgbClr val="1A1A2E"/>
                </a:solidFill>
              </a:defRPr>
            </a:pPr>
            <a:r>
              <a:t>Index optimises</a:t>
            </a:r>
          </a:p>
        </p:txBody>
      </p:sp>
      <p:sp>
        <p:nvSpPr>
          <p:cNvPr id="15" name="TextBox 14"/>
          <p:cNvSpPr txBox="1"/>
          <p:nvPr/>
        </p:nvSpPr>
        <p:spPr>
          <a:xfrm>
            <a:off x="457200" y="3474720"/>
            <a:ext cx="10972800" cy="365760"/>
          </a:xfrm>
          <a:prstGeom prst="rect">
            <a:avLst/>
          </a:prstGeom>
          <a:noFill/>
        </p:spPr>
        <p:txBody>
          <a:bodyPr wrap="square">
            <a:spAutoFit/>
          </a:bodyPr>
          <a:lstStyle/>
          <a:p>
            <a:pPr algn="l">
              <a:defRPr sz="1800" b="1">
                <a:solidFill>
                  <a:srgbClr val="1A1A2E"/>
                </a:solidFill>
              </a:defRPr>
            </a:pPr>
            <a:r>
              <a:t>Flux de donnees</a:t>
            </a:r>
          </a:p>
        </p:txBody>
      </p:sp>
      <p:sp>
        <p:nvSpPr>
          <p:cNvPr id="16" name="TextBox 15"/>
          <p:cNvSpPr txBox="1"/>
          <p:nvPr/>
        </p:nvSpPr>
        <p:spPr>
          <a:xfrm>
            <a:off x="457200" y="3840480"/>
            <a:ext cx="10972800" cy="1371600"/>
          </a:xfrm>
          <a:prstGeom prst="rect">
            <a:avLst/>
          </a:prstGeom>
          <a:noFill/>
        </p:spPr>
        <p:txBody>
          <a:bodyPr wrap="square">
            <a:spAutoFit/>
          </a:bodyPr>
          <a:lstStyle/>
          <a:p>
            <a:pPr>
              <a:spcAft>
                <a:spcPts val="600"/>
              </a:spcAft>
              <a:defRPr sz="1400">
                <a:solidFill>
                  <a:srgbClr val="6C757D"/>
                </a:solidFill>
              </a:defRPr>
            </a:pPr>
            <a:r>
              <a:t>1. Le navigateur envoie une requete HTTP (GET/POST) ou AJAX (fetch/jQuery) au serveur PHP</a:t>
            </a:r>
          </a:p>
          <a:p>
            <a:pPr>
              <a:spcAft>
                <a:spcPts val="600"/>
              </a:spcAft>
              <a:defRPr sz="1400">
                <a:solidFill>
                  <a:srgbClr val="6C757D"/>
                </a:solidFill>
              </a:defRPr>
            </a:pPr>
            <a:r>
              <a:t>2. Le serveur charge config.php (session, constantes, helpers) puis database.php (connexion PDO a MySQL)</a:t>
            </a:r>
          </a:p>
          <a:p>
            <a:pPr>
              <a:spcAft>
                <a:spcPts val="600"/>
              </a:spcAft>
              <a:defRPr sz="1400">
                <a:solidFill>
                  <a:srgbClr val="6C757D"/>
                </a:solidFill>
              </a:defRPr>
            </a:pPr>
            <a:r>
              <a:t>3. Les pages PHP generent du HTML complet ; les API retournent du JSON pour les interactions dynamiques</a:t>
            </a:r>
          </a:p>
          <a:p>
            <a:pPr>
              <a:spcAft>
                <a:spcPts val="600"/>
              </a:spcAft>
              <a:defRPr sz="1400">
                <a:solidFill>
                  <a:srgbClr val="6C757D"/>
                </a:solidFill>
              </a:defRPr>
            </a:pPr>
            <a:r>
              <a:t>4. Securite : bcrypt (mots de passe), PDO prepare (injection SQL), htmlspecialchars (XSS), sessions httponly+samesite</a:t>
            </a:r>
          </a:p>
        </p:txBody>
      </p:sp>
      <p:sp>
        <p:nvSpPr>
          <p:cNvPr id="17" name="TextBox 16"/>
          <p:cNvSpPr txBox="1"/>
          <p:nvPr/>
        </p:nvSpPr>
        <p:spPr>
          <a:xfrm>
            <a:off x="457200" y="5303520"/>
            <a:ext cx="10972800" cy="365760"/>
          </a:xfrm>
          <a:prstGeom prst="rect">
            <a:avLst/>
          </a:prstGeom>
          <a:noFill/>
        </p:spPr>
        <p:txBody>
          <a:bodyPr wrap="square">
            <a:spAutoFit/>
          </a:bodyPr>
          <a:lstStyle/>
          <a:p>
            <a:pPr algn="l">
              <a:defRPr sz="1800" b="1">
                <a:solidFill>
                  <a:srgbClr val="1A1A2E"/>
                </a:solidFill>
              </a:defRPr>
            </a:pPr>
            <a:r>
              <a:t>Deploiement</a:t>
            </a:r>
          </a:p>
        </p:txBody>
      </p:sp>
      <p:sp>
        <p:nvSpPr>
          <p:cNvPr id="18" name="TextBox 17"/>
          <p:cNvSpPr txBox="1"/>
          <p:nvPr/>
        </p:nvSpPr>
        <p:spPr>
          <a:xfrm>
            <a:off x="457200" y="5669280"/>
            <a:ext cx="10972800" cy="914400"/>
          </a:xfrm>
          <a:prstGeom prst="rect">
            <a:avLst/>
          </a:prstGeom>
          <a:noFill/>
        </p:spPr>
        <p:txBody>
          <a:bodyPr wrap="square">
            <a:spAutoFit/>
          </a:bodyPr>
          <a:lstStyle/>
          <a:p>
            <a:pPr>
              <a:spcAft>
                <a:spcPts val="600"/>
              </a:spcAft>
              <a:defRPr sz="1400">
                <a:solidFill>
                  <a:srgbClr val="6C757D"/>
                </a:solidFill>
              </a:defRPr>
            </a:pPr>
            <a:r>
              <a:t>Git push → Railway (auto-deploy) → Nixpacks Build (PHP 8.3) → Procfile (php -S 0.0.0.0:$PORT) → MySQL Railway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4a. Conception back-end — Modele Entite-Association (MCD)</a:t>
            </a:r>
          </a:p>
        </p:txBody>
      </p:sp>
      <p:sp>
        <p:nvSpPr>
          <p:cNvPr id="5" name="Rectangle 4"/>
          <p:cNvSpPr/>
          <p:nvPr/>
        </p:nvSpPr>
        <p:spPr>
          <a:xfrm>
            <a:off x="365760" y="1371600"/>
            <a:ext cx="2743200" cy="2194560"/>
          </a:xfrm>
          <a:prstGeom prst="rect">
            <a:avLst/>
          </a:prstGeom>
          <a:solidFill>
            <a:srgbClr val="F4F6F8"/>
          </a:solidFill>
          <a:ln w="25400">
            <a:solidFill>
              <a:srgbClr val="0A66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17320"/>
            <a:ext cx="2560320" cy="320040"/>
          </a:xfrm>
          <a:prstGeom prst="rect">
            <a:avLst/>
          </a:prstGeom>
          <a:noFill/>
        </p:spPr>
        <p:txBody>
          <a:bodyPr wrap="square">
            <a:spAutoFit/>
          </a:bodyPr>
          <a:lstStyle/>
          <a:p>
            <a:pPr algn="l">
              <a:defRPr sz="1300" b="1">
                <a:solidFill>
                  <a:srgbClr val="0A66C2"/>
                </a:solidFill>
              </a:defRPr>
            </a:pPr>
            <a:r>
              <a:t>UTILISATEURS</a:t>
            </a:r>
          </a:p>
        </p:txBody>
      </p:sp>
      <p:sp>
        <p:nvSpPr>
          <p:cNvPr id="7" name="TextBox 6"/>
          <p:cNvSpPr txBox="1"/>
          <p:nvPr/>
        </p:nvSpPr>
        <p:spPr>
          <a:xfrm>
            <a:off x="457200" y="1737360"/>
            <a:ext cx="2560320" cy="1737360"/>
          </a:xfrm>
          <a:prstGeom prst="rect">
            <a:avLst/>
          </a:prstGeom>
          <a:noFill/>
        </p:spPr>
        <p:txBody>
          <a:bodyPr wrap="square">
            <a:spAutoFit/>
          </a:bodyPr>
          <a:lstStyle/>
          <a:p>
            <a:pPr>
              <a:defRPr sz="900">
                <a:solidFill>
                  <a:srgbClr val="1A1A2E"/>
                </a:solidFill>
              </a:defRPr>
            </a:pPr>
            <a:r>
              <a:rPr b="1" u="sng"/>
              <a:t>id, pseudo, email, mot_de_passe, nom,</a:t>
            </a:r>
          </a:p>
          <a:p>
            <a:pPr>
              <a:defRPr sz="900">
                <a:solidFill>
                  <a:srgbClr val="1A1A2E"/>
                </a:solidFill>
              </a:defRPr>
            </a:pPr>
            <a:r>
              <a:t>prenom, role, photo, image_fond, titre,</a:t>
            </a:r>
          </a:p>
          <a:p>
            <a:pPr>
              <a:defRPr sz="900">
                <a:solidFill>
                  <a:srgbClr val="1A1A2E"/>
                </a:solidFill>
              </a:defRPr>
            </a:pPr>
            <a:r>
              <a:t>biographie, localisation, date_inscription, actif</a:t>
            </a:r>
          </a:p>
        </p:txBody>
      </p:sp>
      <p:sp>
        <p:nvSpPr>
          <p:cNvPr id="8" name="Rectangle 7"/>
          <p:cNvSpPr/>
          <p:nvPr/>
        </p:nvSpPr>
        <p:spPr>
          <a:xfrm>
            <a:off x="3291840" y="1371600"/>
            <a:ext cx="2743200" cy="2194560"/>
          </a:xfrm>
          <a:prstGeom prst="rect">
            <a:avLst/>
          </a:prstGeom>
          <a:solidFill>
            <a:srgbClr val="F4F6F8"/>
          </a:solidFill>
          <a:ln w="25400">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1417320"/>
            <a:ext cx="2560320" cy="320040"/>
          </a:xfrm>
          <a:prstGeom prst="rect">
            <a:avLst/>
          </a:prstGeom>
          <a:noFill/>
        </p:spPr>
        <p:txBody>
          <a:bodyPr wrap="square">
            <a:spAutoFit/>
          </a:bodyPr>
          <a:lstStyle/>
          <a:p>
            <a:pPr algn="l">
              <a:defRPr sz="1300" b="1">
                <a:solidFill>
                  <a:srgbClr val="198754"/>
                </a:solidFill>
              </a:defRPr>
            </a:pPr>
            <a:r>
              <a:t>PUBLICATIONS</a:t>
            </a:r>
          </a:p>
        </p:txBody>
      </p:sp>
      <p:sp>
        <p:nvSpPr>
          <p:cNvPr id="10" name="TextBox 9"/>
          <p:cNvSpPr txBox="1"/>
          <p:nvPr/>
        </p:nvSpPr>
        <p:spPr>
          <a:xfrm>
            <a:off x="3383280" y="1737360"/>
            <a:ext cx="2560320" cy="1737360"/>
          </a:xfrm>
          <a:prstGeom prst="rect">
            <a:avLst/>
          </a:prstGeom>
          <a:noFill/>
        </p:spPr>
        <p:txBody>
          <a:bodyPr wrap="square">
            <a:spAutoFit/>
          </a:bodyPr>
          <a:lstStyle/>
          <a:p>
            <a:pPr>
              <a:defRPr sz="900">
                <a:solidFill>
                  <a:srgbClr val="1A1A2E"/>
                </a:solidFill>
              </a:defRPr>
            </a:pPr>
            <a:r>
              <a:rPr b="1" u="sng"/>
              <a:t>id, utilisateur_id, type, contenu, fichier,</a:t>
            </a:r>
          </a:p>
          <a:p>
            <a:pPr>
              <a:defRPr sz="900">
                <a:solidFill>
                  <a:srgbClr val="1A1A2E"/>
                </a:solidFill>
              </a:defRPr>
            </a:pPr>
            <a:r>
              <a:t>lieu, humeur, visibilite,</a:t>
            </a:r>
          </a:p>
          <a:p>
            <a:pPr>
              <a:defRPr sz="900">
                <a:solidFill>
                  <a:srgbClr val="1A1A2E"/>
                </a:solidFill>
              </a:defRPr>
            </a:pPr>
            <a:r>
              <a:t>publication_originale_id, date_publication</a:t>
            </a:r>
          </a:p>
        </p:txBody>
      </p:sp>
      <p:sp>
        <p:nvSpPr>
          <p:cNvPr id="11" name="Rectangle 10"/>
          <p:cNvSpPr/>
          <p:nvPr/>
        </p:nvSpPr>
        <p:spPr>
          <a:xfrm>
            <a:off x="6217920" y="1371600"/>
            <a:ext cx="2743200" cy="2194560"/>
          </a:xfrm>
          <a:prstGeom prst="rect">
            <a:avLst/>
          </a:prstGeom>
          <a:solidFill>
            <a:srgbClr val="F4F6F8"/>
          </a:solidFill>
          <a:ln w="25400">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17320"/>
            <a:ext cx="2560320" cy="320040"/>
          </a:xfrm>
          <a:prstGeom prst="rect">
            <a:avLst/>
          </a:prstGeom>
          <a:noFill/>
        </p:spPr>
        <p:txBody>
          <a:bodyPr wrap="square">
            <a:spAutoFit/>
          </a:bodyPr>
          <a:lstStyle/>
          <a:p>
            <a:pPr algn="l">
              <a:defRPr sz="1300" b="1">
                <a:solidFill>
                  <a:srgbClr val="6F42C1"/>
                </a:solidFill>
              </a:defRPr>
            </a:pPr>
            <a:r>
              <a:t>CONNEXIONS</a:t>
            </a:r>
          </a:p>
        </p:txBody>
      </p:sp>
      <p:sp>
        <p:nvSpPr>
          <p:cNvPr id="13" name="TextBox 12"/>
          <p:cNvSpPr txBox="1"/>
          <p:nvPr/>
        </p:nvSpPr>
        <p:spPr>
          <a:xfrm>
            <a:off x="6309360" y="1737360"/>
            <a:ext cx="2560320" cy="1737360"/>
          </a:xfrm>
          <a:prstGeom prst="rect">
            <a:avLst/>
          </a:prstGeom>
          <a:noFill/>
        </p:spPr>
        <p:txBody>
          <a:bodyPr wrap="square">
            <a:spAutoFit/>
          </a:bodyPr>
          <a:lstStyle/>
          <a:p>
            <a:pPr>
              <a:defRPr sz="900">
                <a:solidFill>
                  <a:srgbClr val="1A1A2E"/>
                </a:solidFill>
              </a:defRPr>
            </a:pPr>
            <a:r>
              <a:rPr b="1" u="sng"/>
              <a:t>id, demandeur_id, destinataire_id,</a:t>
            </a:r>
          </a:p>
          <a:p>
            <a:pPr>
              <a:defRPr sz="900">
                <a:solidFill>
                  <a:srgbClr val="1A1A2E"/>
                </a:solidFill>
              </a:defRPr>
            </a:pPr>
            <a:r>
              <a:t>statut, date_demande, date_reponse</a:t>
            </a:r>
          </a:p>
        </p:txBody>
      </p:sp>
      <p:sp>
        <p:nvSpPr>
          <p:cNvPr id="14" name="Rectangle 13"/>
          <p:cNvSpPr/>
          <p:nvPr/>
        </p:nvSpPr>
        <p:spPr>
          <a:xfrm>
            <a:off x="9144000" y="1371600"/>
            <a:ext cx="2743200" cy="2194560"/>
          </a:xfrm>
          <a:prstGeom prst="rect">
            <a:avLst/>
          </a:prstGeom>
          <a:solidFill>
            <a:srgbClr val="F4F6F8"/>
          </a:solidFill>
          <a:ln w="25400">
            <a:solidFill>
              <a:srgbClr val="8564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1417320"/>
            <a:ext cx="2560320" cy="320040"/>
          </a:xfrm>
          <a:prstGeom prst="rect">
            <a:avLst/>
          </a:prstGeom>
          <a:noFill/>
        </p:spPr>
        <p:txBody>
          <a:bodyPr wrap="square">
            <a:spAutoFit/>
          </a:bodyPr>
          <a:lstStyle/>
          <a:p>
            <a:pPr algn="l">
              <a:defRPr sz="1300" b="1">
                <a:solidFill>
                  <a:srgbClr val="856404"/>
                </a:solidFill>
              </a:defRPr>
            </a:pPr>
            <a:r>
              <a:t>MESSAGES</a:t>
            </a:r>
          </a:p>
        </p:txBody>
      </p:sp>
      <p:sp>
        <p:nvSpPr>
          <p:cNvPr id="16" name="TextBox 15"/>
          <p:cNvSpPr txBox="1"/>
          <p:nvPr/>
        </p:nvSpPr>
        <p:spPr>
          <a:xfrm>
            <a:off x="9235440" y="1737360"/>
            <a:ext cx="2560320" cy="1737360"/>
          </a:xfrm>
          <a:prstGeom prst="rect">
            <a:avLst/>
          </a:prstGeom>
          <a:noFill/>
        </p:spPr>
        <p:txBody>
          <a:bodyPr wrap="square">
            <a:spAutoFit/>
          </a:bodyPr>
          <a:lstStyle/>
          <a:p>
            <a:pPr>
              <a:defRPr sz="900">
                <a:solidFill>
                  <a:srgbClr val="1A1A2E"/>
                </a:solidFill>
              </a:defRPr>
            </a:pPr>
            <a:r>
              <a:rPr b="1" u="sng"/>
              <a:t>id, conversation_id, expediteur_id,</a:t>
            </a:r>
          </a:p>
          <a:p>
            <a:pPr>
              <a:defRPr sz="900">
                <a:solidFill>
                  <a:srgbClr val="1A1A2E"/>
                </a:solidFill>
              </a:defRPr>
            </a:pPr>
            <a:r>
              <a:t>contenu, lu, date_envoi</a:t>
            </a:r>
          </a:p>
        </p:txBody>
      </p:sp>
      <p:sp>
        <p:nvSpPr>
          <p:cNvPr id="17" name="Rectangle 16"/>
          <p:cNvSpPr/>
          <p:nvPr/>
        </p:nvSpPr>
        <p:spPr>
          <a:xfrm>
            <a:off x="365760" y="3931920"/>
            <a:ext cx="2743200" cy="2194560"/>
          </a:xfrm>
          <a:prstGeom prst="rect">
            <a:avLst/>
          </a:prstGeom>
          <a:solidFill>
            <a:srgbClr val="F4F6F8"/>
          </a:solidFill>
          <a:ln w="2540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977640"/>
            <a:ext cx="2560320" cy="320040"/>
          </a:xfrm>
          <a:prstGeom prst="rect">
            <a:avLst/>
          </a:prstGeom>
          <a:noFill/>
        </p:spPr>
        <p:txBody>
          <a:bodyPr wrap="square">
            <a:spAutoFit/>
          </a:bodyPr>
          <a:lstStyle/>
          <a:p>
            <a:pPr algn="l">
              <a:defRPr sz="1300" b="1">
                <a:solidFill>
                  <a:srgbClr val="DC3545"/>
                </a:solidFill>
              </a:defRPr>
            </a:pPr>
            <a:r>
              <a:t>EMPLOIS</a:t>
            </a:r>
          </a:p>
        </p:txBody>
      </p:sp>
      <p:sp>
        <p:nvSpPr>
          <p:cNvPr id="19" name="TextBox 18"/>
          <p:cNvSpPr txBox="1"/>
          <p:nvPr/>
        </p:nvSpPr>
        <p:spPr>
          <a:xfrm>
            <a:off x="457200" y="4297680"/>
            <a:ext cx="2560320" cy="1737360"/>
          </a:xfrm>
          <a:prstGeom prst="rect">
            <a:avLst/>
          </a:prstGeom>
          <a:noFill/>
        </p:spPr>
        <p:txBody>
          <a:bodyPr wrap="square">
            <a:spAutoFit/>
          </a:bodyPr>
          <a:lstStyle/>
          <a:p>
            <a:pPr>
              <a:defRPr sz="900">
                <a:solidFill>
                  <a:srgbClr val="1A1A2E"/>
                </a:solidFill>
              </a:defRPr>
            </a:pPr>
            <a:r>
              <a:rPr b="1" u="sng"/>
              <a:t>id, publie_par, titre, entreprise,</a:t>
            </a:r>
          </a:p>
          <a:p>
            <a:pPr>
              <a:defRPr sz="900">
                <a:solidFill>
                  <a:srgbClr val="1A1A2E"/>
                </a:solidFill>
              </a:defRPr>
            </a:pPr>
            <a:r>
              <a:t>description, type, lieu, salaire,</a:t>
            </a:r>
          </a:p>
          <a:p>
            <a:pPr>
              <a:defRPr sz="900">
                <a:solidFill>
                  <a:srgbClr val="1A1A2E"/>
                </a:solidFill>
              </a:defRPr>
            </a:pPr>
            <a:r>
              <a:t>date_debut, date_limite, actif</a:t>
            </a:r>
          </a:p>
        </p:txBody>
      </p:sp>
      <p:sp>
        <p:nvSpPr>
          <p:cNvPr id="20" name="Rectangle 19"/>
          <p:cNvSpPr/>
          <p:nvPr/>
        </p:nvSpPr>
        <p:spPr>
          <a:xfrm>
            <a:off x="3291840" y="3931920"/>
            <a:ext cx="2743200" cy="2194560"/>
          </a:xfrm>
          <a:prstGeom prst="rect">
            <a:avLst/>
          </a:prstGeom>
          <a:solidFill>
            <a:srgbClr val="F4F6F8"/>
          </a:solidFill>
          <a:ln w="25400">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83280" y="3977640"/>
            <a:ext cx="2560320" cy="320040"/>
          </a:xfrm>
          <a:prstGeom prst="rect">
            <a:avLst/>
          </a:prstGeom>
          <a:noFill/>
        </p:spPr>
        <p:txBody>
          <a:bodyPr wrap="square">
            <a:spAutoFit/>
          </a:bodyPr>
          <a:lstStyle/>
          <a:p>
            <a:pPr algn="l">
              <a:defRPr sz="1300" b="1">
                <a:solidFill>
                  <a:srgbClr val="6C757D"/>
                </a:solidFill>
              </a:defRPr>
            </a:pPr>
            <a:r>
              <a:t>FORMATIONS</a:t>
            </a:r>
          </a:p>
        </p:txBody>
      </p:sp>
      <p:sp>
        <p:nvSpPr>
          <p:cNvPr id="22" name="TextBox 21"/>
          <p:cNvSpPr txBox="1"/>
          <p:nvPr/>
        </p:nvSpPr>
        <p:spPr>
          <a:xfrm>
            <a:off x="3383280" y="4297680"/>
            <a:ext cx="2560320" cy="1737360"/>
          </a:xfrm>
          <a:prstGeom prst="rect">
            <a:avLst/>
          </a:prstGeom>
          <a:noFill/>
        </p:spPr>
        <p:txBody>
          <a:bodyPr wrap="square">
            <a:spAutoFit/>
          </a:bodyPr>
          <a:lstStyle/>
          <a:p>
            <a:pPr>
              <a:defRPr sz="900">
                <a:solidFill>
                  <a:srgbClr val="1A1A2E"/>
                </a:solidFill>
              </a:defRPr>
            </a:pPr>
            <a:r>
              <a:rPr b="1" u="sng"/>
              <a:t>id, utilisateur_id, etablissement,</a:t>
            </a:r>
          </a:p>
          <a:p>
            <a:pPr>
              <a:defRPr sz="900">
                <a:solidFill>
                  <a:srgbClr val="1A1A2E"/>
                </a:solidFill>
              </a:defRPr>
            </a:pPr>
            <a:r>
              <a:t>diplome, domaine, date_debut, en_cours</a:t>
            </a:r>
          </a:p>
        </p:txBody>
      </p:sp>
      <p:sp>
        <p:nvSpPr>
          <p:cNvPr id="23" name="Rectangle 22"/>
          <p:cNvSpPr/>
          <p:nvPr/>
        </p:nvSpPr>
        <p:spPr>
          <a:xfrm>
            <a:off x="6217920" y="3931920"/>
            <a:ext cx="2743200" cy="2194560"/>
          </a:xfrm>
          <a:prstGeom prst="rect">
            <a:avLst/>
          </a:prstGeom>
          <a:solidFill>
            <a:srgbClr val="F4F6F8"/>
          </a:solidFill>
          <a:ln w="25400">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977640"/>
            <a:ext cx="2560320" cy="320040"/>
          </a:xfrm>
          <a:prstGeom prst="rect">
            <a:avLst/>
          </a:prstGeom>
          <a:noFill/>
        </p:spPr>
        <p:txBody>
          <a:bodyPr wrap="square">
            <a:spAutoFit/>
          </a:bodyPr>
          <a:lstStyle/>
          <a:p>
            <a:pPr algn="l">
              <a:defRPr sz="1300" b="1">
                <a:solidFill>
                  <a:srgbClr val="198754"/>
                </a:solidFill>
              </a:defRPr>
            </a:pPr>
            <a:r>
              <a:t>REACTIONS</a:t>
            </a:r>
          </a:p>
        </p:txBody>
      </p:sp>
      <p:sp>
        <p:nvSpPr>
          <p:cNvPr id="25" name="TextBox 24"/>
          <p:cNvSpPr txBox="1"/>
          <p:nvPr/>
        </p:nvSpPr>
        <p:spPr>
          <a:xfrm>
            <a:off x="6309360" y="4297680"/>
            <a:ext cx="2560320" cy="1737360"/>
          </a:xfrm>
          <a:prstGeom prst="rect">
            <a:avLst/>
          </a:prstGeom>
          <a:noFill/>
        </p:spPr>
        <p:txBody>
          <a:bodyPr wrap="square">
            <a:spAutoFit/>
          </a:bodyPr>
          <a:lstStyle/>
          <a:p>
            <a:pPr>
              <a:defRPr sz="900">
                <a:solidFill>
                  <a:srgbClr val="1A1A2E"/>
                </a:solidFill>
              </a:defRPr>
            </a:pPr>
            <a:r>
              <a:rPr b="1" u="sng"/>
              <a:t>id, publication_id, utilisateur_id,</a:t>
            </a:r>
          </a:p>
          <a:p>
            <a:pPr>
              <a:defRPr sz="900">
                <a:solidFill>
                  <a:srgbClr val="1A1A2E"/>
                </a:solidFill>
              </a:defRPr>
            </a:pPr>
            <a:r>
              <a:t>type, date_reaction</a:t>
            </a:r>
          </a:p>
          <a:p>
            <a:pPr>
              <a:defRPr sz="900">
                <a:solidFill>
                  <a:srgbClr val="1A1A2E"/>
                </a:solidFill>
              </a:defRPr>
            </a:pPr>
            <a:r>
              <a:t>UNIQUE(publication_id, utilisateur_id)</a:t>
            </a:r>
          </a:p>
        </p:txBody>
      </p:sp>
      <p:sp>
        <p:nvSpPr>
          <p:cNvPr id="26" name="Rectangle 25"/>
          <p:cNvSpPr/>
          <p:nvPr/>
        </p:nvSpPr>
        <p:spPr>
          <a:xfrm>
            <a:off x="9144000" y="3931920"/>
            <a:ext cx="2743200" cy="2194560"/>
          </a:xfrm>
          <a:prstGeom prst="rect">
            <a:avLst/>
          </a:prstGeom>
          <a:solidFill>
            <a:srgbClr val="F4F6F8"/>
          </a:solidFill>
          <a:ln w="25400">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3977640"/>
            <a:ext cx="2560320" cy="320040"/>
          </a:xfrm>
          <a:prstGeom prst="rect">
            <a:avLst/>
          </a:prstGeom>
          <a:noFill/>
        </p:spPr>
        <p:txBody>
          <a:bodyPr wrap="square">
            <a:spAutoFit/>
          </a:bodyPr>
          <a:lstStyle/>
          <a:p>
            <a:pPr algn="l">
              <a:defRPr sz="1300" b="1">
                <a:solidFill>
                  <a:srgbClr val="6F42C1"/>
                </a:solidFill>
              </a:defRPr>
            </a:pPr>
            <a:r>
              <a:t>NOTIFICATIONS</a:t>
            </a:r>
          </a:p>
        </p:txBody>
      </p:sp>
      <p:sp>
        <p:nvSpPr>
          <p:cNvPr id="28" name="TextBox 27"/>
          <p:cNvSpPr txBox="1"/>
          <p:nvPr/>
        </p:nvSpPr>
        <p:spPr>
          <a:xfrm>
            <a:off x="9235440" y="4297680"/>
            <a:ext cx="2560320" cy="1737360"/>
          </a:xfrm>
          <a:prstGeom prst="rect">
            <a:avLst/>
          </a:prstGeom>
          <a:noFill/>
        </p:spPr>
        <p:txBody>
          <a:bodyPr wrap="square">
            <a:spAutoFit/>
          </a:bodyPr>
          <a:lstStyle/>
          <a:p>
            <a:pPr>
              <a:defRPr sz="900">
                <a:solidFill>
                  <a:srgbClr val="1A1A2E"/>
                </a:solidFill>
              </a:defRPr>
            </a:pPr>
            <a:r>
              <a:rPr b="1" u="sng"/>
              <a:t>id, utilisateur_id, expediteur_id,</a:t>
            </a:r>
          </a:p>
          <a:p>
            <a:pPr>
              <a:defRPr sz="900">
                <a:solidFill>
                  <a:srgbClr val="1A1A2E"/>
                </a:solidFill>
              </a:defRPr>
            </a:pPr>
            <a:r>
              <a:t>type, message, lien, lue</a:t>
            </a:r>
          </a:p>
        </p:txBody>
      </p:sp>
      <p:sp>
        <p:nvSpPr>
          <p:cNvPr id="29" name="TextBox 28"/>
          <p:cNvSpPr txBox="1"/>
          <p:nvPr/>
        </p:nvSpPr>
        <p:spPr>
          <a:xfrm>
            <a:off x="365760" y="6400800"/>
            <a:ext cx="10972800" cy="320040"/>
          </a:xfrm>
          <a:prstGeom prst="rect">
            <a:avLst/>
          </a:prstGeom>
          <a:noFill/>
        </p:spPr>
        <p:txBody>
          <a:bodyPr wrap="square">
            <a:spAutoFit/>
          </a:bodyPr>
          <a:lstStyle/>
          <a:p>
            <a:pPr algn="l">
              <a:defRPr sz="1200" b="0">
                <a:solidFill>
                  <a:srgbClr val="6C757D"/>
                </a:solidFill>
              </a:defRPr>
            </a:pPr>
            <a:r>
              <a:t>+ PROJETS, COMMENTAIRES, CONVERSATIONS, CONVERSATION_PARTICIPANTS, EVENEMENTS, ALBUMS, ALBUM_PHOTOS, APPELS  (16 tables au total)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4b. Conception back-end — Modele Relationnel</a:t>
            </a:r>
          </a:p>
        </p:txBody>
      </p:sp>
      <p:sp>
        <p:nvSpPr>
          <p:cNvPr id="5" name="TextBox 4"/>
          <p:cNvSpPr txBox="1"/>
          <p:nvPr/>
        </p:nvSpPr>
        <p:spPr>
          <a:xfrm>
            <a:off x="457200" y="1280160"/>
            <a:ext cx="10972800" cy="274320"/>
          </a:xfrm>
          <a:prstGeom prst="rect">
            <a:avLst/>
          </a:prstGeom>
          <a:noFill/>
        </p:spPr>
        <p:txBody>
          <a:bodyPr wrap="square">
            <a:spAutoFit/>
          </a:bodyPr>
          <a:lstStyle/>
          <a:p>
            <a:pPr algn="l">
              <a:defRPr sz="1300" b="0">
                <a:solidFill>
                  <a:srgbClr val="6C757D"/>
                </a:solidFill>
              </a:defRPr>
            </a:pPr>
            <a:r>
              <a:t>Legende :  PK soulignee  |  FK en italique bleu  |  Moteur InnoDB, charset utf8mb4</a:t>
            </a:r>
          </a:p>
        </p:txBody>
      </p:sp>
      <p:sp>
        <p:nvSpPr>
          <p:cNvPr id="6" name="TextBox 5"/>
          <p:cNvSpPr txBox="1"/>
          <p:nvPr/>
        </p:nvSpPr>
        <p:spPr>
          <a:xfrm>
            <a:off x="457200" y="1645920"/>
            <a:ext cx="11247120" cy="5029200"/>
          </a:xfrm>
          <a:prstGeom prst="rect">
            <a:avLst/>
          </a:prstGeom>
          <a:noFill/>
        </p:spPr>
        <p:txBody>
          <a:bodyPr wrap="square">
            <a:spAutoFit/>
          </a:bodyPr>
          <a:lstStyle/>
          <a:p>
            <a:pPr>
              <a:spcAft>
                <a:spcPts val="400"/>
              </a:spcAft>
            </a:pPr>
            <a:r>
              <a:rPr sz="1000" b="1">
                <a:solidFill>
                  <a:srgbClr val="0A66C2"/>
                </a:solidFill>
              </a:rPr>
              <a:t>UTILISATEURS </a:t>
            </a:r>
            <a:r>
              <a:rPr sz="1000">
                <a:solidFill>
                  <a:srgbClr val="1A1A2E"/>
                </a:solidFill>
              </a:rPr>
              <a:t>(id, pseudo, email, mot_de_passe, nom, prenom, role, photo, image_fond, titre, biographie, localisation, site_web, telephone, date_naissance, date_inscription, derniere_connexion, actif)</a:t>
            </a:r>
          </a:p>
          <a:p>
            <a:pPr>
              <a:spcAft>
                <a:spcPts val="400"/>
              </a:spcAft>
            </a:pPr>
            <a:r>
              <a:rPr sz="1000" b="1">
                <a:solidFill>
                  <a:srgbClr val="0A66C2"/>
                </a:solidFill>
              </a:rPr>
              <a:t>FORMATIONS </a:t>
            </a:r>
            <a:r>
              <a:rPr sz="1000">
                <a:solidFill>
                  <a:srgbClr val="1A1A2E"/>
                </a:solidFill>
              </a:rPr>
              <a:t>(id, utilisateur_id, etablissement, diplome, domaine, date_debut, date_fin, en_cours, description, lieu)</a:t>
            </a:r>
          </a:p>
          <a:p>
            <a:pPr>
              <a:spcAft>
                <a:spcPts val="400"/>
              </a:spcAft>
            </a:pPr>
            <a:r>
              <a:rPr sz="1000" b="1">
                <a:solidFill>
                  <a:srgbClr val="0A66C2"/>
                </a:solidFill>
              </a:rPr>
              <a:t>PROJETS </a:t>
            </a:r>
            <a:r>
              <a:rPr sz="1000">
                <a:solidFill>
                  <a:srgbClr val="1A1A2E"/>
                </a:solidFill>
              </a:rPr>
              <a:t>(id, utilisateur_id, titre, description, date_debut, date_fin, en_cours, lien, type)</a:t>
            </a:r>
          </a:p>
          <a:p>
            <a:pPr>
              <a:spcAft>
                <a:spcPts val="400"/>
              </a:spcAft>
            </a:pPr>
            <a:r>
              <a:rPr sz="1000" b="1">
                <a:solidFill>
                  <a:srgbClr val="0A66C2"/>
                </a:solidFill>
              </a:rPr>
              <a:t>PUBLICATIONS </a:t>
            </a:r>
            <a:r>
              <a:rPr sz="1000">
                <a:solidFill>
                  <a:srgbClr val="1A1A2E"/>
                </a:solidFill>
              </a:rPr>
              <a:t>(id, utilisateur_id, type, contenu, fichier, fichier_mime, lieu, humeur, visibilite, publication_originale_id, date_publication, date_modification)</a:t>
            </a:r>
          </a:p>
          <a:p>
            <a:pPr>
              <a:spcAft>
                <a:spcPts val="400"/>
              </a:spcAft>
            </a:pPr>
            <a:r>
              <a:rPr sz="1000" b="1">
                <a:solidFill>
                  <a:srgbClr val="0A66C2"/>
                </a:solidFill>
              </a:rPr>
              <a:t>REACTIONS </a:t>
            </a:r>
            <a:r>
              <a:rPr sz="1000">
                <a:solidFill>
                  <a:srgbClr val="1A1A2E"/>
                </a:solidFill>
              </a:rPr>
              <a:t>(id, publication_id, utilisateur_id, type, date_reaction)  — UNIQUE(publication_id, utilisateur_id)</a:t>
            </a:r>
          </a:p>
          <a:p>
            <a:pPr>
              <a:spcAft>
                <a:spcPts val="400"/>
              </a:spcAft>
            </a:pPr>
            <a:r>
              <a:rPr sz="1000" b="1">
                <a:solidFill>
                  <a:srgbClr val="0A66C2"/>
                </a:solidFill>
              </a:rPr>
              <a:t>COMMENTAIRES </a:t>
            </a:r>
            <a:r>
              <a:rPr sz="1000">
                <a:solidFill>
                  <a:srgbClr val="1A1A2E"/>
                </a:solidFill>
              </a:rPr>
              <a:t>(id, publication_id, utilisateur_id, contenu, date_commentaire)</a:t>
            </a:r>
          </a:p>
          <a:p>
            <a:pPr>
              <a:spcAft>
                <a:spcPts val="400"/>
              </a:spcAft>
            </a:pPr>
            <a:r>
              <a:rPr sz="1000" b="1">
                <a:solidFill>
                  <a:srgbClr val="0A66C2"/>
                </a:solidFill>
              </a:rPr>
              <a:t>CONNEXIONS </a:t>
            </a:r>
            <a:r>
              <a:rPr sz="1000">
                <a:solidFill>
                  <a:srgbClr val="1A1A2E"/>
                </a:solidFill>
              </a:rPr>
              <a:t>(id, demandeur_id, destinataire_id, statut, date_demande, date_reponse)  — UNIQUE(demandeur_id, destinataire_id)</a:t>
            </a:r>
          </a:p>
          <a:p>
            <a:pPr>
              <a:spcAft>
                <a:spcPts val="400"/>
              </a:spcAft>
            </a:pPr>
            <a:r>
              <a:rPr sz="1000" b="1">
                <a:solidFill>
                  <a:srgbClr val="0A66C2"/>
                </a:solidFill>
              </a:rPr>
              <a:t>CONVERSATIONS </a:t>
            </a:r>
            <a:r>
              <a:rPr sz="1000">
                <a:solidFill>
                  <a:srgbClr val="1A1A2E"/>
                </a:solidFill>
              </a:rPr>
              <a:t>(id, nom, est_groupe, date_creation)</a:t>
            </a:r>
          </a:p>
          <a:p>
            <a:pPr>
              <a:spcAft>
                <a:spcPts val="400"/>
              </a:spcAft>
            </a:pPr>
            <a:r>
              <a:rPr sz="1000" b="1">
                <a:solidFill>
                  <a:srgbClr val="0A66C2"/>
                </a:solidFill>
              </a:rPr>
              <a:t>CONVERSATION_PARTICIPANTS </a:t>
            </a:r>
            <a:r>
              <a:rPr sz="1000">
                <a:solidFill>
                  <a:srgbClr val="1A1A2E"/>
                </a:solidFill>
              </a:rPr>
              <a:t>(conversation_id, utilisateur_id, date_ajout)  — PK composite</a:t>
            </a:r>
          </a:p>
          <a:p>
            <a:pPr>
              <a:spcAft>
                <a:spcPts val="400"/>
              </a:spcAft>
            </a:pPr>
            <a:r>
              <a:rPr sz="1000" b="1">
                <a:solidFill>
                  <a:srgbClr val="0A66C2"/>
                </a:solidFill>
              </a:rPr>
              <a:t>MESSAGES </a:t>
            </a:r>
            <a:r>
              <a:rPr sz="1000">
                <a:solidFill>
                  <a:srgbClr val="1A1A2E"/>
                </a:solidFill>
              </a:rPr>
              <a:t>(id, conversation_id, expediteur_id, contenu, lu, date_envoi)</a:t>
            </a:r>
          </a:p>
          <a:p>
            <a:pPr>
              <a:spcAft>
                <a:spcPts val="400"/>
              </a:spcAft>
            </a:pPr>
            <a:r>
              <a:rPr sz="1000" b="1">
                <a:solidFill>
                  <a:srgbClr val="0A66C2"/>
                </a:solidFill>
              </a:rPr>
              <a:t>NOTIFICATIONS </a:t>
            </a:r>
            <a:r>
              <a:rPr sz="1000">
                <a:solidFill>
                  <a:srgbClr val="1A1A2E"/>
                </a:solidFill>
              </a:rPr>
              <a:t>(id, utilisateur_id, expediteur_id, type, message, lien, lue, date_notification)</a:t>
            </a:r>
          </a:p>
          <a:p>
            <a:pPr>
              <a:spcAft>
                <a:spcPts val="400"/>
              </a:spcAft>
            </a:pPr>
            <a:r>
              <a:rPr sz="1000" b="1">
                <a:solidFill>
                  <a:srgbClr val="0A66C2"/>
                </a:solidFill>
              </a:rPr>
              <a:t>EMPLOIS </a:t>
            </a:r>
            <a:r>
              <a:rPr sz="1000">
                <a:solidFill>
                  <a:srgbClr val="1A1A2E"/>
                </a:solidFill>
              </a:rPr>
              <a:t>(id, publie_par, titre, entreprise, description, type, lieu, salaire, date_debut, date_limite, lien_candidature, contact_email, date_publication, actif)</a:t>
            </a:r>
          </a:p>
          <a:p>
            <a:pPr>
              <a:spcAft>
                <a:spcPts val="400"/>
              </a:spcAft>
            </a:pPr>
            <a:r>
              <a:rPr sz="1000" b="1">
                <a:solidFill>
                  <a:srgbClr val="0A66C2"/>
                </a:solidFill>
              </a:rPr>
              <a:t>EVENEMENTS </a:t>
            </a:r>
            <a:r>
              <a:rPr sz="1000">
                <a:solidFill>
                  <a:srgbClr val="1A1A2E"/>
                </a:solidFill>
              </a:rPr>
              <a:t>(id, organisateur_id, titre, description, lieu, date_debut, date_fin, image, lien, est_officiel, date_publication)</a:t>
            </a:r>
          </a:p>
          <a:p>
            <a:pPr>
              <a:spcAft>
                <a:spcPts val="400"/>
              </a:spcAft>
            </a:pPr>
            <a:r>
              <a:rPr sz="1000" b="1">
                <a:solidFill>
                  <a:srgbClr val="0A66C2"/>
                </a:solidFill>
              </a:rPr>
              <a:t>ALBUMS </a:t>
            </a:r>
            <a:r>
              <a:rPr sz="1000">
                <a:solidFill>
                  <a:srgbClr val="1A1A2E"/>
                </a:solidFill>
              </a:rPr>
              <a:t>(id, utilisateur_id, nom, description, couverture, date_creation)</a:t>
            </a:r>
          </a:p>
          <a:p>
            <a:pPr>
              <a:spcAft>
                <a:spcPts val="400"/>
              </a:spcAft>
            </a:pPr>
            <a:r>
              <a:rPr sz="1000" b="1">
                <a:solidFill>
                  <a:srgbClr val="0A66C2"/>
                </a:solidFill>
              </a:rPr>
              <a:t>ALBUM_PHOTOS </a:t>
            </a:r>
            <a:r>
              <a:rPr sz="1000">
                <a:solidFill>
                  <a:srgbClr val="1A1A2E"/>
                </a:solidFill>
              </a:rPr>
              <a:t>(album_id, publication_id)  — PK composite</a:t>
            </a:r>
          </a:p>
          <a:p>
            <a:pPr>
              <a:spcAft>
                <a:spcPts val="400"/>
              </a:spcAft>
            </a:pPr>
            <a:r>
              <a:rPr sz="1000" b="1">
                <a:solidFill>
                  <a:srgbClr val="0A66C2"/>
                </a:solidFill>
              </a:rPr>
              <a:t>APPELS </a:t>
            </a:r>
            <a:r>
              <a:rPr sz="1000">
                <a:solidFill>
                  <a:srgbClr val="1A1A2E"/>
                </a:solidFill>
              </a:rPr>
              <a:t>(id, appelant_id, receveur_id, conversation_id, type, statut, date_debut, date_fin)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5. Design du front-end</a:t>
            </a:r>
          </a:p>
        </p:txBody>
      </p:sp>
      <p:sp>
        <p:nvSpPr>
          <p:cNvPr id="5" name="TextBox 4"/>
          <p:cNvSpPr txBox="1"/>
          <p:nvPr/>
        </p:nvSpPr>
        <p:spPr>
          <a:xfrm>
            <a:off x="548640" y="822960"/>
            <a:ext cx="10972800" cy="274320"/>
          </a:xfrm>
          <a:prstGeom prst="rect">
            <a:avLst/>
          </a:prstGeom>
          <a:noFill/>
        </p:spPr>
        <p:txBody>
          <a:bodyPr wrap="square">
            <a:spAutoFit/>
          </a:bodyPr>
          <a:lstStyle/>
          <a:p>
            <a:pPr algn="l">
              <a:defRPr sz="1400" b="0">
                <a:solidFill>
                  <a:srgbClr val="AAAACC"/>
                </a:solidFill>
              </a:defRPr>
            </a:pPr>
            <a:r>
              <a:t>Wireframes &amp; Storyboard (3 pages — voir livrable 01-design-front.html)</a:t>
            </a:r>
          </a:p>
        </p:txBody>
      </p:sp>
      <p:sp>
        <p:nvSpPr>
          <p:cNvPr id="6" name="Rectangle 5"/>
          <p:cNvSpPr/>
          <p:nvPr/>
        </p:nvSpPr>
        <p:spPr>
          <a:xfrm>
            <a:off x="365760" y="1371600"/>
            <a:ext cx="3566160" cy="155448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63040"/>
            <a:ext cx="3291840" cy="320040"/>
          </a:xfrm>
          <a:prstGeom prst="rect">
            <a:avLst/>
          </a:prstGeom>
          <a:noFill/>
        </p:spPr>
        <p:txBody>
          <a:bodyPr wrap="square">
            <a:spAutoFit/>
          </a:bodyPr>
          <a:lstStyle/>
          <a:p>
            <a:pPr algn="l">
              <a:defRPr sz="1300" b="1">
                <a:solidFill>
                  <a:srgbClr val="0A66C2"/>
                </a:solidFill>
              </a:defRPr>
            </a:pPr>
            <a:r>
              <a:t>Login / Inscription</a:t>
            </a:r>
          </a:p>
        </p:txBody>
      </p:sp>
      <p:sp>
        <p:nvSpPr>
          <p:cNvPr id="8" name="TextBox 7"/>
          <p:cNvSpPr txBox="1"/>
          <p:nvPr/>
        </p:nvSpPr>
        <p:spPr>
          <a:xfrm>
            <a:off x="502920" y="1783080"/>
            <a:ext cx="3291840" cy="1051560"/>
          </a:xfrm>
          <a:prstGeom prst="rect">
            <a:avLst/>
          </a:prstGeom>
          <a:noFill/>
        </p:spPr>
        <p:txBody>
          <a:bodyPr wrap="square">
            <a:spAutoFit/>
          </a:bodyPr>
          <a:lstStyle/>
          <a:p>
            <a:pPr>
              <a:spcAft>
                <a:spcPts val="600"/>
              </a:spcAft>
              <a:defRPr sz="1100">
                <a:solidFill>
                  <a:srgbClr val="6C757D"/>
                </a:solidFill>
              </a:defRPr>
            </a:pPr>
            <a:r>
              <a:t>Split screen : visuel</a:t>
            </a:r>
          </a:p>
          <a:p>
            <a:pPr>
              <a:spcAft>
                <a:spcPts val="600"/>
              </a:spcAft>
              <a:defRPr sz="1100">
                <a:solidFill>
                  <a:srgbClr val="6C757D"/>
                </a:solidFill>
              </a:defRPr>
            </a:pPr>
            <a:r>
              <a:t>de marque + formulaire</a:t>
            </a:r>
          </a:p>
          <a:p>
            <a:pPr>
              <a:spcAft>
                <a:spcPts val="600"/>
              </a:spcAft>
              <a:defRPr sz="1100">
                <a:solidFill>
                  <a:srgbClr val="6C757D"/>
                </a:solidFill>
              </a:defRPr>
            </a:pPr>
            <a:r>
              <a:t>avec onglets Connexion</a:t>
            </a:r>
          </a:p>
          <a:p>
            <a:pPr>
              <a:spcAft>
                <a:spcPts val="600"/>
              </a:spcAft>
              <a:defRPr sz="1100">
                <a:solidFill>
                  <a:srgbClr val="6C757D"/>
                </a:solidFill>
              </a:defRPr>
            </a:pPr>
            <a:r>
              <a:t>et Inscription</a:t>
            </a:r>
          </a:p>
        </p:txBody>
      </p:sp>
      <p:sp>
        <p:nvSpPr>
          <p:cNvPr id="9" name="Rectangle 8"/>
          <p:cNvSpPr/>
          <p:nvPr/>
        </p:nvSpPr>
        <p:spPr>
          <a:xfrm>
            <a:off x="4206240" y="1371600"/>
            <a:ext cx="3566160" cy="155448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1463040"/>
            <a:ext cx="3291840" cy="320040"/>
          </a:xfrm>
          <a:prstGeom prst="rect">
            <a:avLst/>
          </a:prstGeom>
          <a:noFill/>
        </p:spPr>
        <p:txBody>
          <a:bodyPr wrap="square">
            <a:spAutoFit/>
          </a:bodyPr>
          <a:lstStyle/>
          <a:p>
            <a:pPr algn="l">
              <a:defRPr sz="1300" b="1">
                <a:solidFill>
                  <a:srgbClr val="0A66C2"/>
                </a:solidFill>
              </a:defRPr>
            </a:pPr>
            <a:r>
              <a:t>Fil d'actualite</a:t>
            </a:r>
          </a:p>
        </p:txBody>
      </p:sp>
      <p:sp>
        <p:nvSpPr>
          <p:cNvPr id="11" name="TextBox 10"/>
          <p:cNvSpPr txBox="1"/>
          <p:nvPr/>
        </p:nvSpPr>
        <p:spPr>
          <a:xfrm>
            <a:off x="4343400" y="1783080"/>
            <a:ext cx="3291840" cy="1051560"/>
          </a:xfrm>
          <a:prstGeom prst="rect">
            <a:avLst/>
          </a:prstGeom>
          <a:noFill/>
        </p:spPr>
        <p:txBody>
          <a:bodyPr wrap="square">
            <a:spAutoFit/>
          </a:bodyPr>
          <a:lstStyle/>
          <a:p>
            <a:pPr>
              <a:spcAft>
                <a:spcPts val="600"/>
              </a:spcAft>
              <a:defRPr sz="1100">
                <a:solidFill>
                  <a:srgbClr val="6C757D"/>
                </a:solidFill>
              </a:defRPr>
            </a:pPr>
            <a:r>
              <a:t>Layout 3 colonnes :</a:t>
            </a:r>
          </a:p>
          <a:p>
            <a:pPr>
              <a:spcAft>
                <a:spcPts val="600"/>
              </a:spcAft>
              <a:defRPr sz="1100">
                <a:solidFill>
                  <a:srgbClr val="6C757D"/>
                </a:solidFill>
              </a:defRPr>
            </a:pPr>
            <a:r>
              <a:t>profil rapide, fil de</a:t>
            </a:r>
          </a:p>
          <a:p>
            <a:pPr>
              <a:spcAft>
                <a:spcPts val="600"/>
              </a:spcAft>
              <a:defRPr sz="1100">
                <a:solidFill>
                  <a:srgbClr val="6C757D"/>
                </a:solidFill>
              </a:defRPr>
            </a:pPr>
            <a:r>
              <a:t>publications + carrousel</a:t>
            </a:r>
          </a:p>
          <a:p>
            <a:pPr>
              <a:spcAft>
                <a:spcPts val="600"/>
              </a:spcAft>
              <a:defRPr sz="1100">
                <a:solidFill>
                  <a:srgbClr val="6C757D"/>
                </a:solidFill>
              </a:defRPr>
            </a:pPr>
            <a:r>
              <a:t>evenements, suggestions</a:t>
            </a:r>
          </a:p>
        </p:txBody>
      </p:sp>
      <p:sp>
        <p:nvSpPr>
          <p:cNvPr id="12" name="Rectangle 11"/>
          <p:cNvSpPr/>
          <p:nvPr/>
        </p:nvSpPr>
        <p:spPr>
          <a:xfrm>
            <a:off x="8046720" y="1371600"/>
            <a:ext cx="3566160" cy="155448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1463040"/>
            <a:ext cx="3291840" cy="320040"/>
          </a:xfrm>
          <a:prstGeom prst="rect">
            <a:avLst/>
          </a:prstGeom>
          <a:noFill/>
        </p:spPr>
        <p:txBody>
          <a:bodyPr wrap="square">
            <a:spAutoFit/>
          </a:bodyPr>
          <a:lstStyle/>
          <a:p>
            <a:pPr algn="l">
              <a:defRPr sz="1300" b="1">
                <a:solidFill>
                  <a:srgbClr val="0A66C2"/>
                </a:solidFill>
              </a:defRPr>
            </a:pPr>
            <a:r>
              <a:t>Profil utilisateur</a:t>
            </a:r>
          </a:p>
        </p:txBody>
      </p:sp>
      <p:sp>
        <p:nvSpPr>
          <p:cNvPr id="14" name="TextBox 13"/>
          <p:cNvSpPr txBox="1"/>
          <p:nvPr/>
        </p:nvSpPr>
        <p:spPr>
          <a:xfrm>
            <a:off x="8183880" y="1783080"/>
            <a:ext cx="3291840" cy="1051560"/>
          </a:xfrm>
          <a:prstGeom prst="rect">
            <a:avLst/>
          </a:prstGeom>
          <a:noFill/>
        </p:spPr>
        <p:txBody>
          <a:bodyPr wrap="square">
            <a:spAutoFit/>
          </a:bodyPr>
          <a:lstStyle/>
          <a:p>
            <a:pPr>
              <a:spcAft>
                <a:spcPts val="600"/>
              </a:spcAft>
              <a:defRPr sz="1100">
                <a:solidFill>
                  <a:srgbClr val="6C757D"/>
                </a:solidFill>
              </a:defRPr>
            </a:pPr>
            <a:r>
              <a:t>Banniere + avatar,</a:t>
            </a:r>
          </a:p>
          <a:p>
            <a:pPr>
              <a:spcAft>
                <a:spcPts val="600"/>
              </a:spcAft>
              <a:defRPr sz="1100">
                <a:solidFill>
                  <a:srgbClr val="6C757D"/>
                </a:solidFill>
              </a:defRPr>
            </a:pPr>
            <a:r>
              <a:t>7 onglets : Profil,</a:t>
            </a:r>
          </a:p>
          <a:p>
            <a:pPr>
              <a:spcAft>
                <a:spcPts val="600"/>
              </a:spcAft>
              <a:defRPr sz="1100">
                <a:solidFill>
                  <a:srgbClr val="6C757D"/>
                </a:solidFill>
              </a:defRPr>
            </a:pPr>
            <a:r>
              <a:t>Publications, Formations,</a:t>
            </a:r>
          </a:p>
          <a:p>
            <a:pPr>
              <a:spcAft>
                <a:spcPts val="600"/>
              </a:spcAft>
              <a:defRPr sz="1100">
                <a:solidFill>
                  <a:srgbClr val="6C757D"/>
                </a:solidFill>
              </a:defRPr>
            </a:pPr>
            <a:r>
              <a:t>Projets, Albums, CV, Params</a:t>
            </a:r>
          </a:p>
        </p:txBody>
      </p:sp>
      <p:sp>
        <p:nvSpPr>
          <p:cNvPr id="15" name="Rectangle 14"/>
          <p:cNvSpPr/>
          <p:nvPr/>
        </p:nvSpPr>
        <p:spPr>
          <a:xfrm>
            <a:off x="365760" y="3108960"/>
            <a:ext cx="3566160" cy="155448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200400"/>
            <a:ext cx="3291840" cy="320040"/>
          </a:xfrm>
          <a:prstGeom prst="rect">
            <a:avLst/>
          </a:prstGeom>
          <a:noFill/>
        </p:spPr>
        <p:txBody>
          <a:bodyPr wrap="square">
            <a:spAutoFit/>
          </a:bodyPr>
          <a:lstStyle/>
          <a:p>
            <a:pPr algn="l">
              <a:defRPr sz="1300" b="1">
                <a:solidFill>
                  <a:srgbClr val="0A66C2"/>
                </a:solidFill>
              </a:defRPr>
            </a:pPr>
            <a:r>
              <a:t>Messagerie</a:t>
            </a:r>
          </a:p>
        </p:txBody>
      </p:sp>
      <p:sp>
        <p:nvSpPr>
          <p:cNvPr id="17" name="TextBox 16"/>
          <p:cNvSpPr txBox="1"/>
          <p:nvPr/>
        </p:nvSpPr>
        <p:spPr>
          <a:xfrm>
            <a:off x="502920" y="3520440"/>
            <a:ext cx="3291840" cy="1051560"/>
          </a:xfrm>
          <a:prstGeom prst="rect">
            <a:avLst/>
          </a:prstGeom>
          <a:noFill/>
        </p:spPr>
        <p:txBody>
          <a:bodyPr wrap="square">
            <a:spAutoFit/>
          </a:bodyPr>
          <a:lstStyle/>
          <a:p>
            <a:pPr>
              <a:spcAft>
                <a:spcPts val="600"/>
              </a:spcAft>
              <a:defRPr sz="1100">
                <a:solidFill>
                  <a:srgbClr val="6C757D"/>
                </a:solidFill>
              </a:defRPr>
            </a:pPr>
            <a:r>
              <a:t>Split 30/70 : liste des</a:t>
            </a:r>
          </a:p>
          <a:p>
            <a:pPr>
              <a:spcAft>
                <a:spcPts val="600"/>
              </a:spcAft>
              <a:defRPr sz="1100">
                <a:solidFill>
                  <a:srgbClr val="6C757D"/>
                </a:solidFill>
              </a:defRPr>
            </a:pPr>
            <a:r>
              <a:t>conversations + fenetre</a:t>
            </a:r>
          </a:p>
          <a:p>
            <a:pPr>
              <a:spcAft>
                <a:spcPts val="600"/>
              </a:spcAft>
              <a:defRPr sz="1100">
                <a:solidFill>
                  <a:srgbClr val="6C757D"/>
                </a:solidFill>
              </a:defRPr>
            </a:pPr>
            <a:r>
              <a:t>de chat avec bulles</a:t>
            </a:r>
          </a:p>
          <a:p>
            <a:pPr>
              <a:spcAft>
                <a:spcPts val="600"/>
              </a:spcAft>
              <a:defRPr sz="1100">
                <a:solidFill>
                  <a:srgbClr val="6C757D"/>
                </a:solidFill>
              </a:defRPr>
            </a:pPr>
            <a:r>
              <a:t>+ boutons appel audio/video</a:t>
            </a:r>
          </a:p>
        </p:txBody>
      </p:sp>
      <p:sp>
        <p:nvSpPr>
          <p:cNvPr id="18" name="Rectangle 17"/>
          <p:cNvSpPr/>
          <p:nvPr/>
        </p:nvSpPr>
        <p:spPr>
          <a:xfrm>
            <a:off x="4206240" y="3108960"/>
            <a:ext cx="3566160" cy="155448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3200400"/>
            <a:ext cx="3291840" cy="320040"/>
          </a:xfrm>
          <a:prstGeom prst="rect">
            <a:avLst/>
          </a:prstGeom>
          <a:noFill/>
        </p:spPr>
        <p:txBody>
          <a:bodyPr wrap="square">
            <a:spAutoFit/>
          </a:bodyPr>
          <a:lstStyle/>
          <a:p>
            <a:pPr algn="l">
              <a:defRPr sz="1300" b="1">
                <a:solidFill>
                  <a:srgbClr val="0A66C2"/>
                </a:solidFill>
              </a:defRPr>
            </a:pPr>
            <a:r>
              <a:t>Mon Reseau</a:t>
            </a:r>
          </a:p>
        </p:txBody>
      </p:sp>
      <p:sp>
        <p:nvSpPr>
          <p:cNvPr id="20" name="TextBox 19"/>
          <p:cNvSpPr txBox="1"/>
          <p:nvPr/>
        </p:nvSpPr>
        <p:spPr>
          <a:xfrm>
            <a:off x="4343400" y="3520440"/>
            <a:ext cx="3291840" cy="1051560"/>
          </a:xfrm>
          <a:prstGeom prst="rect">
            <a:avLst/>
          </a:prstGeom>
          <a:noFill/>
        </p:spPr>
        <p:txBody>
          <a:bodyPr wrap="square">
            <a:spAutoFit/>
          </a:bodyPr>
          <a:lstStyle/>
          <a:p>
            <a:pPr>
              <a:spcAft>
                <a:spcPts val="600"/>
              </a:spcAft>
              <a:defRPr sz="1100">
                <a:solidFill>
                  <a:srgbClr val="6C757D"/>
                </a:solidFill>
              </a:defRPr>
            </a:pPr>
            <a:r>
              <a:t>2 colonnes : sidebar</a:t>
            </a:r>
          </a:p>
          <a:p>
            <a:pPr>
              <a:spcAft>
                <a:spcPts val="600"/>
              </a:spcAft>
              <a:defRPr sz="1100">
                <a:solidFill>
                  <a:srgbClr val="6C757D"/>
                </a:solidFill>
              </a:defRPr>
            </a:pPr>
            <a:r>
              <a:t>liens + contenu (invitations,</a:t>
            </a:r>
          </a:p>
          <a:p>
            <a:pPr>
              <a:spcAft>
                <a:spcPts val="600"/>
              </a:spcAft>
              <a:defRPr sz="1100">
                <a:solidFill>
                  <a:srgbClr val="6C757D"/>
                </a:solidFill>
              </a:defRPr>
            </a:pPr>
            <a:r>
              <a:t>connexions, suggestions</a:t>
            </a:r>
          </a:p>
          <a:p>
            <a:pPr>
              <a:spcAft>
                <a:spcPts val="600"/>
              </a:spcAft>
              <a:defRPr sz="1100">
                <a:solidFill>
                  <a:srgbClr val="6C757D"/>
                </a:solidFill>
              </a:defRPr>
            </a:pPr>
            <a:r>
              <a:t>amis d'amis)</a:t>
            </a:r>
          </a:p>
        </p:txBody>
      </p:sp>
      <p:sp>
        <p:nvSpPr>
          <p:cNvPr id="21" name="Rectangle 20"/>
          <p:cNvSpPr/>
          <p:nvPr/>
        </p:nvSpPr>
        <p:spPr>
          <a:xfrm>
            <a:off x="8046720" y="3108960"/>
            <a:ext cx="3566160" cy="155448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80" y="3200400"/>
            <a:ext cx="3291840" cy="320040"/>
          </a:xfrm>
          <a:prstGeom prst="rect">
            <a:avLst/>
          </a:prstGeom>
          <a:noFill/>
        </p:spPr>
        <p:txBody>
          <a:bodyPr wrap="square">
            <a:spAutoFit/>
          </a:bodyPr>
          <a:lstStyle/>
          <a:p>
            <a:pPr algn="l">
              <a:defRPr sz="1300" b="1">
                <a:solidFill>
                  <a:srgbClr val="0A66C2"/>
                </a:solidFill>
              </a:defRPr>
            </a:pPr>
            <a:r>
              <a:t>Recherche</a:t>
            </a:r>
          </a:p>
        </p:txBody>
      </p:sp>
      <p:sp>
        <p:nvSpPr>
          <p:cNvPr id="23" name="TextBox 22"/>
          <p:cNvSpPr txBox="1"/>
          <p:nvPr/>
        </p:nvSpPr>
        <p:spPr>
          <a:xfrm>
            <a:off x="8183880" y="3520440"/>
            <a:ext cx="3291840" cy="1051560"/>
          </a:xfrm>
          <a:prstGeom prst="rect">
            <a:avLst/>
          </a:prstGeom>
          <a:noFill/>
        </p:spPr>
        <p:txBody>
          <a:bodyPr wrap="square">
            <a:spAutoFit/>
          </a:bodyPr>
          <a:lstStyle/>
          <a:p>
            <a:pPr>
              <a:spcAft>
                <a:spcPts val="600"/>
              </a:spcAft>
              <a:defRPr sz="1100">
                <a:solidFill>
                  <a:srgbClr val="6C757D"/>
                </a:solidFill>
              </a:defRPr>
            </a:pPr>
            <a:r>
              <a:t>Resultats en 3 sections :</a:t>
            </a:r>
          </a:p>
          <a:p>
            <a:pPr>
              <a:spcAft>
                <a:spcPts val="600"/>
              </a:spcAft>
              <a:defRPr sz="1100">
                <a:solidFill>
                  <a:srgbClr val="6C757D"/>
                </a:solidFill>
              </a:defRPr>
            </a:pPr>
            <a:r>
              <a:t>Personnes, Publications,</a:t>
            </a:r>
          </a:p>
          <a:p>
            <a:pPr>
              <a:spcAft>
                <a:spcPts val="600"/>
              </a:spcAft>
              <a:defRPr sz="1100">
                <a:solidFill>
                  <a:srgbClr val="6C757D"/>
                </a:solidFill>
              </a:defRPr>
            </a:pPr>
            <a:r>
              <a:t>Emplois &amp; Stages</a:t>
            </a:r>
          </a:p>
        </p:txBody>
      </p:sp>
      <p:sp>
        <p:nvSpPr>
          <p:cNvPr id="24" name="Rectangle 23"/>
          <p:cNvSpPr/>
          <p:nvPr/>
        </p:nvSpPr>
        <p:spPr>
          <a:xfrm>
            <a:off x="365760" y="4846320"/>
            <a:ext cx="3566160" cy="155448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937760"/>
            <a:ext cx="3291840" cy="320040"/>
          </a:xfrm>
          <a:prstGeom prst="rect">
            <a:avLst/>
          </a:prstGeom>
          <a:noFill/>
        </p:spPr>
        <p:txBody>
          <a:bodyPr wrap="square">
            <a:spAutoFit/>
          </a:bodyPr>
          <a:lstStyle/>
          <a:p>
            <a:pPr algn="l">
              <a:defRPr sz="1300" b="1">
                <a:solidFill>
                  <a:srgbClr val="0A66C2"/>
                </a:solidFill>
              </a:defRPr>
            </a:pPr>
            <a:r>
              <a:t>Emplois &amp; Stages</a:t>
            </a:r>
          </a:p>
        </p:txBody>
      </p:sp>
      <p:sp>
        <p:nvSpPr>
          <p:cNvPr id="26" name="TextBox 25"/>
          <p:cNvSpPr txBox="1"/>
          <p:nvPr/>
        </p:nvSpPr>
        <p:spPr>
          <a:xfrm>
            <a:off x="502920" y="5257800"/>
            <a:ext cx="3291840" cy="1051560"/>
          </a:xfrm>
          <a:prstGeom prst="rect">
            <a:avLst/>
          </a:prstGeom>
          <a:noFill/>
        </p:spPr>
        <p:txBody>
          <a:bodyPr wrap="square">
            <a:spAutoFit/>
          </a:bodyPr>
          <a:lstStyle/>
          <a:p>
            <a:pPr>
              <a:spcAft>
                <a:spcPts val="600"/>
              </a:spcAft>
              <a:defRPr sz="1100">
                <a:solidFill>
                  <a:srgbClr val="6C757D"/>
                </a:solidFill>
              </a:defRPr>
            </a:pPr>
            <a:r>
              <a:t>Filtres a gauche (type,</a:t>
            </a:r>
          </a:p>
          <a:p>
            <a:pPr>
              <a:spcAft>
                <a:spcPts val="600"/>
              </a:spcAft>
              <a:defRPr sz="1100">
                <a:solidFill>
                  <a:srgbClr val="6C757D"/>
                </a:solidFill>
              </a:defRPr>
            </a:pPr>
            <a:r>
              <a:t>mots-cles) + liste d'offres</a:t>
            </a:r>
          </a:p>
          <a:p>
            <a:pPr>
              <a:spcAft>
                <a:spcPts val="600"/>
              </a:spcAft>
              <a:defRPr sz="1100">
                <a:solidFill>
                  <a:srgbClr val="6C757D"/>
                </a:solidFill>
              </a:defRPr>
            </a:pPr>
            <a:r>
              <a:t>avec badges couleur</a:t>
            </a:r>
          </a:p>
          <a:p>
            <a:pPr>
              <a:spcAft>
                <a:spcPts val="600"/>
              </a:spcAft>
              <a:defRPr sz="1100">
                <a:solidFill>
                  <a:srgbClr val="6C757D"/>
                </a:solidFill>
              </a:defRPr>
            </a:pPr>
            <a:r>
              <a:t>(Stage, Alternance, CDI...)</a:t>
            </a:r>
          </a:p>
        </p:txBody>
      </p:sp>
      <p:sp>
        <p:nvSpPr>
          <p:cNvPr id="27" name="Rectangle 26"/>
          <p:cNvSpPr/>
          <p:nvPr/>
        </p:nvSpPr>
        <p:spPr>
          <a:xfrm>
            <a:off x="4206240" y="4846320"/>
            <a:ext cx="3566160" cy="155448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43400" y="4937760"/>
            <a:ext cx="3291840" cy="320040"/>
          </a:xfrm>
          <a:prstGeom prst="rect">
            <a:avLst/>
          </a:prstGeom>
          <a:noFill/>
        </p:spPr>
        <p:txBody>
          <a:bodyPr wrap="square">
            <a:spAutoFit/>
          </a:bodyPr>
          <a:lstStyle/>
          <a:p>
            <a:pPr algn="l">
              <a:defRPr sz="1300" b="1">
                <a:solidFill>
                  <a:srgbClr val="0A66C2"/>
                </a:solidFill>
              </a:defRPr>
            </a:pPr>
            <a:r>
              <a:t>Notifications</a:t>
            </a:r>
          </a:p>
        </p:txBody>
      </p:sp>
      <p:sp>
        <p:nvSpPr>
          <p:cNvPr id="29" name="TextBox 28"/>
          <p:cNvSpPr txBox="1"/>
          <p:nvPr/>
        </p:nvSpPr>
        <p:spPr>
          <a:xfrm>
            <a:off x="4343400" y="5257800"/>
            <a:ext cx="3291840" cy="1051560"/>
          </a:xfrm>
          <a:prstGeom prst="rect">
            <a:avLst/>
          </a:prstGeom>
          <a:noFill/>
        </p:spPr>
        <p:txBody>
          <a:bodyPr wrap="square">
            <a:spAutoFit/>
          </a:bodyPr>
          <a:lstStyle/>
          <a:p>
            <a:pPr>
              <a:spcAft>
                <a:spcPts val="600"/>
              </a:spcAft>
              <a:defRPr sz="1100">
                <a:solidFill>
                  <a:srgbClr val="6C757D"/>
                </a:solidFill>
              </a:defRPr>
            </a:pPr>
            <a:r>
              <a:t>Liste chronologique</a:t>
            </a:r>
          </a:p>
          <a:p>
            <a:pPr>
              <a:spcAft>
                <a:spcPts val="600"/>
              </a:spcAft>
              <a:defRPr sz="1100">
                <a:solidFill>
                  <a:srgbClr val="6C757D"/>
                </a:solidFill>
              </a:defRPr>
            </a:pPr>
            <a:r>
              <a:t>des notifications typees</a:t>
            </a:r>
          </a:p>
          <a:p>
            <a:pPr>
              <a:spcAft>
                <a:spcPts val="600"/>
              </a:spcAft>
              <a:defRPr sz="1100">
                <a:solidFill>
                  <a:srgbClr val="6C757D"/>
                </a:solidFill>
              </a:defRPr>
            </a:pPr>
            <a:r>
              <a:t>(demande, reaction,</a:t>
            </a:r>
          </a:p>
          <a:p>
            <a:pPr>
              <a:spcAft>
                <a:spcPts val="600"/>
              </a:spcAft>
              <a:defRPr sz="1100">
                <a:solidFill>
                  <a:srgbClr val="6C757D"/>
                </a:solidFill>
              </a:defRPr>
            </a:pPr>
            <a:r>
              <a:t>commentaire, evenement...)</a:t>
            </a:r>
          </a:p>
        </p:txBody>
      </p:sp>
      <p:sp>
        <p:nvSpPr>
          <p:cNvPr id="30" name="Rectangle 29"/>
          <p:cNvSpPr/>
          <p:nvPr/>
        </p:nvSpPr>
        <p:spPr>
          <a:xfrm>
            <a:off x="8046720" y="4846320"/>
            <a:ext cx="3566160" cy="155448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83880" y="4937760"/>
            <a:ext cx="3291840" cy="320040"/>
          </a:xfrm>
          <a:prstGeom prst="rect">
            <a:avLst/>
          </a:prstGeom>
          <a:noFill/>
        </p:spPr>
        <p:txBody>
          <a:bodyPr wrap="square">
            <a:spAutoFit/>
          </a:bodyPr>
          <a:lstStyle/>
          <a:p>
            <a:pPr algn="l">
              <a:defRPr sz="1300" b="1">
                <a:solidFill>
                  <a:srgbClr val="0A66C2"/>
                </a:solidFill>
              </a:defRPr>
            </a:pPr>
            <a:r>
              <a:t>Panel Admin</a:t>
            </a:r>
          </a:p>
        </p:txBody>
      </p:sp>
      <p:sp>
        <p:nvSpPr>
          <p:cNvPr id="32" name="TextBox 31"/>
          <p:cNvSpPr txBox="1"/>
          <p:nvPr/>
        </p:nvSpPr>
        <p:spPr>
          <a:xfrm>
            <a:off x="8183880" y="5257800"/>
            <a:ext cx="3291840" cy="1051560"/>
          </a:xfrm>
          <a:prstGeom prst="rect">
            <a:avLst/>
          </a:prstGeom>
          <a:noFill/>
        </p:spPr>
        <p:txBody>
          <a:bodyPr wrap="square">
            <a:spAutoFit/>
          </a:bodyPr>
          <a:lstStyle/>
          <a:p>
            <a:pPr>
              <a:spcAft>
                <a:spcPts val="600"/>
              </a:spcAft>
              <a:defRPr sz="1100">
                <a:solidFill>
                  <a:srgbClr val="6C757D"/>
                </a:solidFill>
              </a:defRPr>
            </a:pPr>
            <a:r>
              <a:t>Dashboard stats +</a:t>
            </a:r>
          </a:p>
          <a:p>
            <a:pPr>
              <a:spcAft>
                <a:spcPts val="600"/>
              </a:spcAft>
              <a:defRPr sz="1100">
                <a:solidFill>
                  <a:srgbClr val="6C757D"/>
                </a:solidFill>
              </a:defRPr>
            </a:pPr>
            <a:r>
              <a:t>table utilisateurs avec</a:t>
            </a:r>
          </a:p>
          <a:p>
            <a:pPr>
              <a:spcAft>
                <a:spcPts val="600"/>
              </a:spcAft>
              <a:defRPr sz="1100">
                <a:solidFill>
                  <a:srgbClr val="6C757D"/>
                </a:solidFill>
              </a:defRPr>
            </a:pPr>
            <a:r>
              <a:t>filtres et actions</a:t>
            </a:r>
          </a:p>
          <a:p>
            <a:pPr>
              <a:spcAft>
                <a:spcPts val="600"/>
              </a:spcAft>
              <a:defRPr sz="1100">
                <a:solidFill>
                  <a:srgbClr val="6C757D"/>
                </a:solidFill>
              </a:defRPr>
            </a:pPr>
            <a:r>
              <a:t>(role, activer, desactiver)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5b. Storyboard — Cheminement utilisateur</a:t>
            </a:r>
          </a:p>
        </p:txBody>
      </p:sp>
      <p:sp>
        <p:nvSpPr>
          <p:cNvPr id="5" name="TextBox 4"/>
          <p:cNvSpPr txBox="1"/>
          <p:nvPr/>
        </p:nvSpPr>
        <p:spPr>
          <a:xfrm>
            <a:off x="457200" y="1371600"/>
            <a:ext cx="10972800" cy="365760"/>
          </a:xfrm>
          <a:prstGeom prst="rect">
            <a:avLst/>
          </a:prstGeom>
          <a:noFill/>
        </p:spPr>
        <p:txBody>
          <a:bodyPr wrap="square">
            <a:spAutoFit/>
          </a:bodyPr>
          <a:lstStyle/>
          <a:p>
            <a:pPr algn="l">
              <a:defRPr sz="1800" b="1">
                <a:solidFill>
                  <a:srgbClr val="1A1A2E"/>
                </a:solidFill>
              </a:defRPr>
            </a:pPr>
            <a:r>
              <a:t>Parcours Visiteur → Auteur → Administrateur</a:t>
            </a:r>
          </a:p>
        </p:txBody>
      </p:sp>
      <p:sp>
        <p:nvSpPr>
          <p:cNvPr id="6" name="TextBox 5"/>
          <p:cNvSpPr txBox="1"/>
          <p:nvPr/>
        </p:nvSpPr>
        <p:spPr>
          <a:xfrm>
            <a:off x="457200" y="1828800"/>
            <a:ext cx="10972800" cy="1828800"/>
          </a:xfrm>
          <a:prstGeom prst="rect">
            <a:avLst/>
          </a:prstGeom>
          <a:noFill/>
        </p:spPr>
        <p:txBody>
          <a:bodyPr wrap="square">
            <a:spAutoFit/>
          </a:bodyPr>
          <a:lstStyle/>
          <a:p>
            <a:pPr>
              <a:spcAft>
                <a:spcPts val="600"/>
              </a:spcAft>
              <a:defRPr sz="1400">
                <a:solidFill>
                  <a:srgbClr val="6C757D"/>
                </a:solidFill>
              </a:defRPr>
            </a:pPr>
            <a:r>
              <a:t>Visiteur non connecte :  login.php  →  Connexion reussie  →  index.php (fil d'actualite)</a:t>
            </a:r>
          </a:p>
          <a:p>
            <a:pPr>
              <a:spcAft>
                <a:spcPts val="600"/>
              </a:spcAft>
              <a:defRPr sz="1400">
                <a:solidFill>
                  <a:srgbClr val="6C757D"/>
                </a:solidFill>
              </a:defRPr>
            </a:pPr>
            <a:r>
              <a:t>Inscription :  login.php (onglet S'inscrire)  →  Formulaire valide  →  Retour connexion</a:t>
            </a:r>
          </a:p>
          <a:p>
            <a:pPr>
              <a:spcAft>
                <a:spcPts val="600"/>
              </a:spcAft>
              <a:defRPr sz="1400">
                <a:solidFill>
                  <a:srgbClr val="6C757D"/>
                </a:solidFill>
              </a:defRPr>
            </a:pPr>
          </a:p>
          <a:p>
            <a:pPr>
              <a:spcAft>
                <a:spcPts val="600"/>
              </a:spcAft>
              <a:defRPr sz="1400">
                <a:solidFill>
                  <a:srgbClr val="6C757D"/>
                </a:solidFill>
              </a:defRPr>
            </a:pPr>
            <a:r>
              <a:t>Utilisateur authentifie : Navbar commune sur toutes les pages</a:t>
            </a:r>
          </a:p>
          <a:p>
            <a:pPr>
              <a:spcAft>
                <a:spcPts val="600"/>
              </a:spcAft>
              <a:defRPr sz="1400">
                <a:solidFill>
                  <a:srgbClr val="6C757D"/>
                </a:solidFill>
              </a:defRPr>
            </a:pPr>
            <a:r>
              <a:t>  Accueil ↔ Mon Reseau ↔ Profil ↔ Notifications ↔ Messagerie ↔ Emplois ↔ Recherche</a:t>
            </a:r>
          </a:p>
          <a:p>
            <a:pPr>
              <a:spcAft>
                <a:spcPts val="600"/>
              </a:spcAft>
              <a:defRPr sz="1400">
                <a:solidFill>
                  <a:srgbClr val="6C757D"/>
                </a:solidFill>
              </a:defRPr>
            </a:pPr>
            <a:r>
              <a:t>  Profil  →  Onglet CV  →  cv/generer_cv.php (generation HTML/PDF/XML)</a:t>
            </a:r>
          </a:p>
          <a:p>
            <a:pPr>
              <a:spcAft>
                <a:spcPts val="600"/>
              </a:spcAft>
              <a:defRPr sz="1400">
                <a:solidFill>
                  <a:srgbClr val="6C757D"/>
                </a:solidFill>
              </a:defRPr>
            </a:pPr>
            <a:r>
              <a:t>  Reseau  →  Clic Profil  →  utilisateur.php  |  Clic Message  →  messagerie.php</a:t>
            </a:r>
          </a:p>
          <a:p>
            <a:pPr>
              <a:spcAft>
                <a:spcPts val="600"/>
              </a:spcAft>
              <a:defRPr sz="1400">
                <a:solidFill>
                  <a:srgbClr val="6C757D"/>
                </a:solidFill>
              </a:defRPr>
            </a:pPr>
          </a:p>
          <a:p>
            <a:pPr>
              <a:spcAft>
                <a:spcPts val="600"/>
              </a:spcAft>
              <a:defRPr sz="1400">
                <a:solidFill>
                  <a:srgbClr val="6C757D"/>
                </a:solidFill>
              </a:defRPr>
            </a:pPr>
            <a:r>
              <a:t>Administrateur :  Profil (dropdown)  →  admin/index.php (panel d'administration)</a:t>
            </a:r>
          </a:p>
          <a:p>
            <a:pPr>
              <a:spcAft>
                <a:spcPts val="600"/>
              </a:spcAft>
              <a:defRPr sz="1400">
                <a:solidFill>
                  <a:srgbClr val="6C757D"/>
                </a:solidFill>
              </a:defRPr>
            </a:pPr>
            <a:r>
              <a:t>  Deconnexion :  logout.php  →  Redirection  →  login.php</a:t>
            </a:r>
          </a:p>
        </p:txBody>
      </p:sp>
      <p:sp>
        <p:nvSpPr>
          <p:cNvPr id="7" name="TextBox 6"/>
          <p:cNvSpPr txBox="1"/>
          <p:nvPr/>
        </p:nvSpPr>
        <p:spPr>
          <a:xfrm>
            <a:off x="457200" y="4754880"/>
            <a:ext cx="10972800" cy="274320"/>
          </a:xfrm>
          <a:prstGeom prst="rect">
            <a:avLst/>
          </a:prstGeom>
          <a:noFill/>
        </p:spPr>
        <p:txBody>
          <a:bodyPr wrap="square">
            <a:spAutoFit/>
          </a:bodyPr>
          <a:lstStyle/>
          <a:p>
            <a:pPr algn="l">
              <a:defRPr sz="1200" b="0">
                <a:solidFill>
                  <a:srgbClr val="0A66C2"/>
                </a:solidFill>
              </a:defRPr>
            </a:pPr>
            <a:r>
              <a:t>Voir le diagramme Mermaid complet dans 01-design-front.html (section Storyboard)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6. Specifications fonctionnelles</a:t>
            </a:r>
          </a:p>
        </p:txBody>
      </p:sp>
      <p:sp>
        <p:nvSpPr>
          <p:cNvPr id="5" name="TextBox 4"/>
          <p:cNvSpPr txBox="1"/>
          <p:nvPr/>
        </p:nvSpPr>
        <p:spPr>
          <a:xfrm>
            <a:off x="548640" y="822960"/>
            <a:ext cx="10972800" cy="274320"/>
          </a:xfrm>
          <a:prstGeom prst="rect">
            <a:avLst/>
          </a:prstGeom>
          <a:noFill/>
        </p:spPr>
        <p:txBody>
          <a:bodyPr wrap="square">
            <a:spAutoFit/>
          </a:bodyPr>
          <a:lstStyle/>
          <a:p>
            <a:pPr algn="l">
              <a:defRPr sz="1400" b="0">
                <a:solidFill>
                  <a:srgbClr val="AAAACC"/>
                </a:solidFill>
              </a:defRPr>
            </a:pPr>
            <a:r>
              <a:t>24 fonctionnalites — 8 cas d'utilisation — 14 regles metier</a:t>
            </a:r>
          </a:p>
        </p:txBody>
      </p:sp>
      <p:sp>
        <p:nvSpPr>
          <p:cNvPr id="6" name="TextBox 5"/>
          <p:cNvSpPr txBox="1"/>
          <p:nvPr/>
        </p:nvSpPr>
        <p:spPr>
          <a:xfrm>
            <a:off x="457200" y="1371600"/>
            <a:ext cx="2011680" cy="365760"/>
          </a:xfrm>
          <a:prstGeom prst="rect">
            <a:avLst/>
          </a:prstGeom>
          <a:noFill/>
        </p:spPr>
        <p:txBody>
          <a:bodyPr wrap="square">
            <a:spAutoFit/>
          </a:bodyPr>
          <a:lstStyle/>
          <a:p>
            <a:pPr algn="l">
              <a:defRPr sz="1300" b="1">
                <a:solidFill>
                  <a:srgbClr val="DC3545"/>
                </a:solidFill>
              </a:defRPr>
            </a:pPr>
            <a:r>
              <a:t>Authentification</a:t>
            </a:r>
          </a:p>
        </p:txBody>
      </p:sp>
      <p:sp>
        <p:nvSpPr>
          <p:cNvPr id="7" name="TextBox 6"/>
          <p:cNvSpPr txBox="1"/>
          <p:nvPr/>
        </p:nvSpPr>
        <p:spPr>
          <a:xfrm>
            <a:off x="2468880" y="1371600"/>
            <a:ext cx="914400" cy="365760"/>
          </a:xfrm>
          <a:prstGeom prst="rect">
            <a:avLst/>
          </a:prstGeom>
          <a:noFill/>
        </p:spPr>
        <p:txBody>
          <a:bodyPr wrap="square">
            <a:spAutoFit/>
          </a:bodyPr>
          <a:lstStyle/>
          <a:p>
            <a:pPr algn="l">
              <a:defRPr sz="1100" b="0">
                <a:solidFill>
                  <a:srgbClr val="6C757D"/>
                </a:solidFill>
              </a:defRPr>
            </a:pPr>
            <a:r>
              <a:t>F01-F03</a:t>
            </a:r>
          </a:p>
        </p:txBody>
      </p:sp>
      <p:sp>
        <p:nvSpPr>
          <p:cNvPr id="8" name="TextBox 7"/>
          <p:cNvSpPr txBox="1"/>
          <p:nvPr/>
        </p:nvSpPr>
        <p:spPr>
          <a:xfrm>
            <a:off x="3383280" y="1371600"/>
            <a:ext cx="8229600" cy="365760"/>
          </a:xfrm>
          <a:prstGeom prst="rect">
            <a:avLst/>
          </a:prstGeom>
          <a:noFill/>
        </p:spPr>
        <p:txBody>
          <a:bodyPr wrap="square">
            <a:spAutoFit/>
          </a:bodyPr>
          <a:lstStyle/>
          <a:p>
            <a:pPr algn="l">
              <a:defRPr sz="1300" b="0">
                <a:solidFill>
                  <a:srgbClr val="1A1A2E"/>
                </a:solidFill>
              </a:defRPr>
            </a:pPr>
            <a:r>
              <a:t>Inscription (email ECE), Connexion (bcrypt), Deconnexion</a:t>
            </a:r>
          </a:p>
        </p:txBody>
      </p:sp>
      <p:sp>
        <p:nvSpPr>
          <p:cNvPr id="9" name="TextBox 8"/>
          <p:cNvSpPr txBox="1"/>
          <p:nvPr/>
        </p:nvSpPr>
        <p:spPr>
          <a:xfrm>
            <a:off x="457200" y="1810512"/>
            <a:ext cx="2011680" cy="365760"/>
          </a:xfrm>
          <a:prstGeom prst="rect">
            <a:avLst/>
          </a:prstGeom>
          <a:noFill/>
        </p:spPr>
        <p:txBody>
          <a:bodyPr wrap="square">
            <a:spAutoFit/>
          </a:bodyPr>
          <a:lstStyle/>
          <a:p>
            <a:pPr algn="l">
              <a:defRPr sz="1300" b="1">
                <a:solidFill>
                  <a:srgbClr val="0A66C2"/>
                </a:solidFill>
              </a:defRPr>
            </a:pPr>
            <a:r>
              <a:t>Profil</a:t>
            </a:r>
          </a:p>
        </p:txBody>
      </p:sp>
      <p:sp>
        <p:nvSpPr>
          <p:cNvPr id="10" name="TextBox 9"/>
          <p:cNvSpPr txBox="1"/>
          <p:nvPr/>
        </p:nvSpPr>
        <p:spPr>
          <a:xfrm>
            <a:off x="2468880" y="1810512"/>
            <a:ext cx="914400" cy="365760"/>
          </a:xfrm>
          <a:prstGeom prst="rect">
            <a:avLst/>
          </a:prstGeom>
          <a:noFill/>
        </p:spPr>
        <p:txBody>
          <a:bodyPr wrap="square">
            <a:spAutoFit/>
          </a:bodyPr>
          <a:lstStyle/>
          <a:p>
            <a:pPr algn="l">
              <a:defRPr sz="1100" b="0">
                <a:solidFill>
                  <a:srgbClr val="6C757D"/>
                </a:solidFill>
              </a:defRPr>
            </a:pPr>
            <a:r>
              <a:t>F04-F07</a:t>
            </a:r>
          </a:p>
        </p:txBody>
      </p:sp>
      <p:sp>
        <p:nvSpPr>
          <p:cNvPr id="11" name="TextBox 10"/>
          <p:cNvSpPr txBox="1"/>
          <p:nvPr/>
        </p:nvSpPr>
        <p:spPr>
          <a:xfrm>
            <a:off x="3383280" y="1810512"/>
            <a:ext cx="8229600" cy="365760"/>
          </a:xfrm>
          <a:prstGeom prst="rect">
            <a:avLst/>
          </a:prstGeom>
          <a:noFill/>
        </p:spPr>
        <p:txBody>
          <a:bodyPr wrap="square">
            <a:spAutoFit/>
          </a:bodyPr>
          <a:lstStyle/>
          <a:p>
            <a:pPr algn="l">
              <a:defRPr sz="1300" b="0">
                <a:solidFill>
                  <a:srgbClr val="1A1A2E"/>
                </a:solidFill>
              </a:defRPr>
            </a:pPr>
            <a:r>
              <a:t>Edition profil, Formations, Projets, Albums photo</a:t>
            </a:r>
          </a:p>
        </p:txBody>
      </p:sp>
      <p:sp>
        <p:nvSpPr>
          <p:cNvPr id="12" name="TextBox 11"/>
          <p:cNvSpPr txBox="1"/>
          <p:nvPr/>
        </p:nvSpPr>
        <p:spPr>
          <a:xfrm>
            <a:off x="457200" y="2249424"/>
            <a:ext cx="2011680" cy="365760"/>
          </a:xfrm>
          <a:prstGeom prst="rect">
            <a:avLst/>
          </a:prstGeom>
          <a:noFill/>
        </p:spPr>
        <p:txBody>
          <a:bodyPr wrap="square">
            <a:spAutoFit/>
          </a:bodyPr>
          <a:lstStyle/>
          <a:p>
            <a:pPr algn="l">
              <a:defRPr sz="1300" b="1">
                <a:solidFill>
                  <a:srgbClr val="198754"/>
                </a:solidFill>
              </a:defRPr>
            </a:pPr>
            <a:r>
              <a:t>Publications</a:t>
            </a:r>
          </a:p>
        </p:txBody>
      </p:sp>
      <p:sp>
        <p:nvSpPr>
          <p:cNvPr id="13" name="TextBox 12"/>
          <p:cNvSpPr txBox="1"/>
          <p:nvPr/>
        </p:nvSpPr>
        <p:spPr>
          <a:xfrm>
            <a:off x="2468880" y="2249424"/>
            <a:ext cx="914400" cy="365760"/>
          </a:xfrm>
          <a:prstGeom prst="rect">
            <a:avLst/>
          </a:prstGeom>
          <a:noFill/>
        </p:spPr>
        <p:txBody>
          <a:bodyPr wrap="square">
            <a:spAutoFit/>
          </a:bodyPr>
          <a:lstStyle/>
          <a:p>
            <a:pPr algn="l">
              <a:defRPr sz="1100" b="0">
                <a:solidFill>
                  <a:srgbClr val="6C757D"/>
                </a:solidFill>
              </a:defRPr>
            </a:pPr>
            <a:r>
              <a:t>F08-F11</a:t>
            </a:r>
          </a:p>
        </p:txBody>
      </p:sp>
      <p:sp>
        <p:nvSpPr>
          <p:cNvPr id="14" name="TextBox 13"/>
          <p:cNvSpPr txBox="1"/>
          <p:nvPr/>
        </p:nvSpPr>
        <p:spPr>
          <a:xfrm>
            <a:off x="3383280" y="2249424"/>
            <a:ext cx="8229600" cy="365760"/>
          </a:xfrm>
          <a:prstGeom prst="rect">
            <a:avLst/>
          </a:prstGeom>
          <a:noFill/>
        </p:spPr>
        <p:txBody>
          <a:bodyPr wrap="square">
            <a:spAutoFit/>
          </a:bodyPr>
          <a:lstStyle/>
          <a:p>
            <a:pPr algn="l">
              <a:defRPr sz="1300" b="0">
                <a:solidFill>
                  <a:srgbClr val="1A1A2E"/>
                </a:solidFill>
              </a:defRPr>
            </a:pPr>
            <a:r>
              <a:t>Posts (5 types), Reactions (4 types), Commentaires, Partage</a:t>
            </a:r>
          </a:p>
        </p:txBody>
      </p:sp>
      <p:sp>
        <p:nvSpPr>
          <p:cNvPr id="15" name="TextBox 14"/>
          <p:cNvSpPr txBox="1"/>
          <p:nvPr/>
        </p:nvSpPr>
        <p:spPr>
          <a:xfrm>
            <a:off x="457200" y="2688336"/>
            <a:ext cx="2011680" cy="365760"/>
          </a:xfrm>
          <a:prstGeom prst="rect">
            <a:avLst/>
          </a:prstGeom>
          <a:noFill/>
        </p:spPr>
        <p:txBody>
          <a:bodyPr wrap="square">
            <a:spAutoFit/>
          </a:bodyPr>
          <a:lstStyle/>
          <a:p>
            <a:pPr algn="l">
              <a:defRPr sz="1300" b="1">
                <a:solidFill>
                  <a:srgbClr val="6F42C1"/>
                </a:solidFill>
              </a:defRPr>
            </a:pPr>
            <a:r>
              <a:t>Reseau</a:t>
            </a:r>
          </a:p>
        </p:txBody>
      </p:sp>
      <p:sp>
        <p:nvSpPr>
          <p:cNvPr id="16" name="TextBox 15"/>
          <p:cNvSpPr txBox="1"/>
          <p:nvPr/>
        </p:nvSpPr>
        <p:spPr>
          <a:xfrm>
            <a:off x="2468880" y="2688336"/>
            <a:ext cx="914400" cy="365760"/>
          </a:xfrm>
          <a:prstGeom prst="rect">
            <a:avLst/>
          </a:prstGeom>
          <a:noFill/>
        </p:spPr>
        <p:txBody>
          <a:bodyPr wrap="square">
            <a:spAutoFit/>
          </a:bodyPr>
          <a:lstStyle/>
          <a:p>
            <a:pPr algn="l">
              <a:defRPr sz="1100" b="0">
                <a:solidFill>
                  <a:srgbClr val="6C757D"/>
                </a:solidFill>
              </a:defRPr>
            </a:pPr>
            <a:r>
              <a:t>F12-F13</a:t>
            </a:r>
          </a:p>
        </p:txBody>
      </p:sp>
      <p:sp>
        <p:nvSpPr>
          <p:cNvPr id="17" name="TextBox 16"/>
          <p:cNvSpPr txBox="1"/>
          <p:nvPr/>
        </p:nvSpPr>
        <p:spPr>
          <a:xfrm>
            <a:off x="3383280" y="2688336"/>
            <a:ext cx="8229600" cy="365760"/>
          </a:xfrm>
          <a:prstGeom prst="rect">
            <a:avLst/>
          </a:prstGeom>
          <a:noFill/>
        </p:spPr>
        <p:txBody>
          <a:bodyPr wrap="square">
            <a:spAutoFit/>
          </a:bodyPr>
          <a:lstStyle/>
          <a:p>
            <a:pPr algn="l">
              <a:defRPr sz="1300" b="0">
                <a:solidFill>
                  <a:srgbClr val="1A1A2E"/>
                </a:solidFill>
              </a:defRPr>
            </a:pPr>
            <a:r>
              <a:t>Demandes de connexion, Suggestions amis d'amis</a:t>
            </a:r>
          </a:p>
        </p:txBody>
      </p:sp>
      <p:sp>
        <p:nvSpPr>
          <p:cNvPr id="18" name="TextBox 17"/>
          <p:cNvSpPr txBox="1"/>
          <p:nvPr/>
        </p:nvSpPr>
        <p:spPr>
          <a:xfrm>
            <a:off x="457200" y="3127248"/>
            <a:ext cx="2011680" cy="365760"/>
          </a:xfrm>
          <a:prstGeom prst="rect">
            <a:avLst/>
          </a:prstGeom>
          <a:noFill/>
        </p:spPr>
        <p:txBody>
          <a:bodyPr wrap="square">
            <a:spAutoFit/>
          </a:bodyPr>
          <a:lstStyle/>
          <a:p>
            <a:pPr algn="l">
              <a:defRPr sz="1300" b="1">
                <a:solidFill>
                  <a:srgbClr val="856404"/>
                </a:solidFill>
              </a:defRPr>
            </a:pPr>
            <a:r>
              <a:t>Messagerie</a:t>
            </a:r>
          </a:p>
        </p:txBody>
      </p:sp>
      <p:sp>
        <p:nvSpPr>
          <p:cNvPr id="19" name="TextBox 18"/>
          <p:cNvSpPr txBox="1"/>
          <p:nvPr/>
        </p:nvSpPr>
        <p:spPr>
          <a:xfrm>
            <a:off x="2468880" y="3127248"/>
            <a:ext cx="914400" cy="365760"/>
          </a:xfrm>
          <a:prstGeom prst="rect">
            <a:avLst/>
          </a:prstGeom>
          <a:noFill/>
        </p:spPr>
        <p:txBody>
          <a:bodyPr wrap="square">
            <a:spAutoFit/>
          </a:bodyPr>
          <a:lstStyle/>
          <a:p>
            <a:pPr algn="l">
              <a:defRPr sz="1100" b="0">
                <a:solidFill>
                  <a:srgbClr val="6C757D"/>
                </a:solidFill>
              </a:defRPr>
            </a:pPr>
            <a:r>
              <a:t>F14-F15</a:t>
            </a:r>
          </a:p>
        </p:txBody>
      </p:sp>
      <p:sp>
        <p:nvSpPr>
          <p:cNvPr id="20" name="TextBox 19"/>
          <p:cNvSpPr txBox="1"/>
          <p:nvPr/>
        </p:nvSpPr>
        <p:spPr>
          <a:xfrm>
            <a:off x="3383280" y="3127248"/>
            <a:ext cx="8229600" cy="365760"/>
          </a:xfrm>
          <a:prstGeom prst="rect">
            <a:avLst/>
          </a:prstGeom>
          <a:noFill/>
        </p:spPr>
        <p:txBody>
          <a:bodyPr wrap="square">
            <a:spAutoFit/>
          </a:bodyPr>
          <a:lstStyle/>
          <a:p>
            <a:pPr algn="l">
              <a:defRPr sz="1300" b="0">
                <a:solidFill>
                  <a:srgbClr val="1A1A2E"/>
                </a:solidFill>
              </a:defRPr>
            </a:pPr>
            <a:r>
              <a:t>Chat prive (polling 3s), Appels audio/video</a:t>
            </a:r>
          </a:p>
        </p:txBody>
      </p:sp>
      <p:sp>
        <p:nvSpPr>
          <p:cNvPr id="21" name="TextBox 20"/>
          <p:cNvSpPr txBox="1"/>
          <p:nvPr/>
        </p:nvSpPr>
        <p:spPr>
          <a:xfrm>
            <a:off x="457200" y="3566160"/>
            <a:ext cx="2011680" cy="365760"/>
          </a:xfrm>
          <a:prstGeom prst="rect">
            <a:avLst/>
          </a:prstGeom>
          <a:noFill/>
        </p:spPr>
        <p:txBody>
          <a:bodyPr wrap="square">
            <a:spAutoFit/>
          </a:bodyPr>
          <a:lstStyle/>
          <a:p>
            <a:pPr algn="l">
              <a:defRPr sz="1300" b="1">
                <a:solidFill>
                  <a:srgbClr val="6C757D"/>
                </a:solidFill>
              </a:defRPr>
            </a:pPr>
            <a:r>
              <a:t>Recherche</a:t>
            </a:r>
          </a:p>
        </p:txBody>
      </p:sp>
      <p:sp>
        <p:nvSpPr>
          <p:cNvPr id="22" name="TextBox 21"/>
          <p:cNvSpPr txBox="1"/>
          <p:nvPr/>
        </p:nvSpPr>
        <p:spPr>
          <a:xfrm>
            <a:off x="2468880" y="3566160"/>
            <a:ext cx="914400" cy="365760"/>
          </a:xfrm>
          <a:prstGeom prst="rect">
            <a:avLst/>
          </a:prstGeom>
          <a:noFill/>
        </p:spPr>
        <p:txBody>
          <a:bodyPr wrap="square">
            <a:spAutoFit/>
          </a:bodyPr>
          <a:lstStyle/>
          <a:p>
            <a:pPr algn="l">
              <a:defRPr sz="1100" b="0">
                <a:solidFill>
                  <a:srgbClr val="6C757D"/>
                </a:solidFill>
              </a:defRPr>
            </a:pPr>
            <a:r>
              <a:t>F16</a:t>
            </a:r>
          </a:p>
        </p:txBody>
      </p:sp>
      <p:sp>
        <p:nvSpPr>
          <p:cNvPr id="23" name="TextBox 22"/>
          <p:cNvSpPr txBox="1"/>
          <p:nvPr/>
        </p:nvSpPr>
        <p:spPr>
          <a:xfrm>
            <a:off x="3383280" y="3566160"/>
            <a:ext cx="8229600" cy="365760"/>
          </a:xfrm>
          <a:prstGeom prst="rect">
            <a:avLst/>
          </a:prstGeom>
          <a:noFill/>
        </p:spPr>
        <p:txBody>
          <a:bodyPr wrap="square">
            <a:spAutoFit/>
          </a:bodyPr>
          <a:lstStyle/>
          <a:p>
            <a:pPr algn="l">
              <a:defRPr sz="1300" b="0">
                <a:solidFill>
                  <a:srgbClr val="1A1A2E"/>
                </a:solidFill>
              </a:defRPr>
            </a:pPr>
            <a:r>
              <a:t>Recherche globale (personnes, posts, emplois)</a:t>
            </a:r>
          </a:p>
        </p:txBody>
      </p:sp>
      <p:sp>
        <p:nvSpPr>
          <p:cNvPr id="24" name="TextBox 23"/>
          <p:cNvSpPr txBox="1"/>
          <p:nvPr/>
        </p:nvSpPr>
        <p:spPr>
          <a:xfrm>
            <a:off x="457200" y="4005072"/>
            <a:ext cx="2011680" cy="365760"/>
          </a:xfrm>
          <a:prstGeom prst="rect">
            <a:avLst/>
          </a:prstGeom>
          <a:noFill/>
        </p:spPr>
        <p:txBody>
          <a:bodyPr wrap="square">
            <a:spAutoFit/>
          </a:bodyPr>
          <a:lstStyle/>
          <a:p>
            <a:pPr algn="l">
              <a:defRPr sz="1300" b="1">
                <a:solidFill>
                  <a:srgbClr val="DC3545"/>
                </a:solidFill>
              </a:defRPr>
            </a:pPr>
            <a:r>
              <a:t>Emplois</a:t>
            </a:r>
          </a:p>
        </p:txBody>
      </p:sp>
      <p:sp>
        <p:nvSpPr>
          <p:cNvPr id="25" name="TextBox 24"/>
          <p:cNvSpPr txBox="1"/>
          <p:nvPr/>
        </p:nvSpPr>
        <p:spPr>
          <a:xfrm>
            <a:off x="2468880" y="4005072"/>
            <a:ext cx="914400" cy="365760"/>
          </a:xfrm>
          <a:prstGeom prst="rect">
            <a:avLst/>
          </a:prstGeom>
          <a:noFill/>
        </p:spPr>
        <p:txBody>
          <a:bodyPr wrap="square">
            <a:spAutoFit/>
          </a:bodyPr>
          <a:lstStyle/>
          <a:p>
            <a:pPr algn="l">
              <a:defRPr sz="1100" b="0">
                <a:solidFill>
                  <a:srgbClr val="6C757D"/>
                </a:solidFill>
              </a:defRPr>
            </a:pPr>
            <a:r>
              <a:t>F17-F18</a:t>
            </a:r>
          </a:p>
        </p:txBody>
      </p:sp>
      <p:sp>
        <p:nvSpPr>
          <p:cNvPr id="26" name="TextBox 25"/>
          <p:cNvSpPr txBox="1"/>
          <p:nvPr/>
        </p:nvSpPr>
        <p:spPr>
          <a:xfrm>
            <a:off x="3383280" y="4005072"/>
            <a:ext cx="8229600" cy="365760"/>
          </a:xfrm>
          <a:prstGeom prst="rect">
            <a:avLst/>
          </a:prstGeom>
          <a:noFill/>
        </p:spPr>
        <p:txBody>
          <a:bodyPr wrap="square">
            <a:spAutoFit/>
          </a:bodyPr>
          <a:lstStyle/>
          <a:p>
            <a:pPr algn="l">
              <a:defRPr sz="1300" b="0">
                <a:solidFill>
                  <a:srgbClr val="1A1A2E"/>
                </a:solidFill>
              </a:defRPr>
            </a:pPr>
            <a:r>
              <a:t>Consultation + filtres, Publication (admin)</a:t>
            </a:r>
          </a:p>
        </p:txBody>
      </p:sp>
      <p:sp>
        <p:nvSpPr>
          <p:cNvPr id="27" name="TextBox 26"/>
          <p:cNvSpPr txBox="1"/>
          <p:nvPr/>
        </p:nvSpPr>
        <p:spPr>
          <a:xfrm>
            <a:off x="457200" y="4443984"/>
            <a:ext cx="2011680" cy="365760"/>
          </a:xfrm>
          <a:prstGeom prst="rect">
            <a:avLst/>
          </a:prstGeom>
          <a:noFill/>
        </p:spPr>
        <p:txBody>
          <a:bodyPr wrap="square">
            <a:spAutoFit/>
          </a:bodyPr>
          <a:lstStyle/>
          <a:p>
            <a:pPr algn="l">
              <a:defRPr sz="1300" b="1">
                <a:solidFill>
                  <a:srgbClr val="0A66C2"/>
                </a:solidFill>
              </a:defRPr>
            </a:pPr>
            <a:r>
              <a:t>CV</a:t>
            </a:r>
          </a:p>
        </p:txBody>
      </p:sp>
      <p:sp>
        <p:nvSpPr>
          <p:cNvPr id="28" name="TextBox 27"/>
          <p:cNvSpPr txBox="1"/>
          <p:nvPr/>
        </p:nvSpPr>
        <p:spPr>
          <a:xfrm>
            <a:off x="2468880" y="4443984"/>
            <a:ext cx="914400" cy="365760"/>
          </a:xfrm>
          <a:prstGeom prst="rect">
            <a:avLst/>
          </a:prstGeom>
          <a:noFill/>
        </p:spPr>
        <p:txBody>
          <a:bodyPr wrap="square">
            <a:spAutoFit/>
          </a:bodyPr>
          <a:lstStyle/>
          <a:p>
            <a:pPr algn="l">
              <a:defRPr sz="1100" b="0">
                <a:solidFill>
                  <a:srgbClr val="6C757D"/>
                </a:solidFill>
              </a:defRPr>
            </a:pPr>
            <a:r>
              <a:t>F19-F20</a:t>
            </a:r>
          </a:p>
        </p:txBody>
      </p:sp>
      <p:sp>
        <p:nvSpPr>
          <p:cNvPr id="29" name="TextBox 28"/>
          <p:cNvSpPr txBox="1"/>
          <p:nvPr/>
        </p:nvSpPr>
        <p:spPr>
          <a:xfrm>
            <a:off x="3383280" y="4443984"/>
            <a:ext cx="8229600" cy="365760"/>
          </a:xfrm>
          <a:prstGeom prst="rect">
            <a:avLst/>
          </a:prstGeom>
          <a:noFill/>
        </p:spPr>
        <p:txBody>
          <a:bodyPr wrap="square">
            <a:spAutoFit/>
          </a:bodyPr>
          <a:lstStyle/>
          <a:p>
            <a:pPr algn="l">
              <a:defRPr sz="1300" b="0">
                <a:solidFill>
                  <a:srgbClr val="1A1A2E"/>
                </a:solidFill>
              </a:defRPr>
            </a:pPr>
            <a:r>
              <a:t>Generation (HTML/PDF/XML), Import XML</a:t>
            </a:r>
          </a:p>
        </p:txBody>
      </p:sp>
      <p:sp>
        <p:nvSpPr>
          <p:cNvPr id="30" name="TextBox 29"/>
          <p:cNvSpPr txBox="1"/>
          <p:nvPr/>
        </p:nvSpPr>
        <p:spPr>
          <a:xfrm>
            <a:off x="457200" y="4882896"/>
            <a:ext cx="2011680" cy="365760"/>
          </a:xfrm>
          <a:prstGeom prst="rect">
            <a:avLst/>
          </a:prstGeom>
          <a:noFill/>
        </p:spPr>
        <p:txBody>
          <a:bodyPr wrap="square">
            <a:spAutoFit/>
          </a:bodyPr>
          <a:lstStyle/>
          <a:p>
            <a:pPr algn="l">
              <a:defRPr sz="1300" b="1">
                <a:solidFill>
                  <a:srgbClr val="198754"/>
                </a:solidFill>
              </a:defRPr>
            </a:pPr>
            <a:r>
              <a:t>Notifications</a:t>
            </a:r>
          </a:p>
        </p:txBody>
      </p:sp>
      <p:sp>
        <p:nvSpPr>
          <p:cNvPr id="31" name="TextBox 30"/>
          <p:cNvSpPr txBox="1"/>
          <p:nvPr/>
        </p:nvSpPr>
        <p:spPr>
          <a:xfrm>
            <a:off x="2468880" y="4882896"/>
            <a:ext cx="914400" cy="365760"/>
          </a:xfrm>
          <a:prstGeom prst="rect">
            <a:avLst/>
          </a:prstGeom>
          <a:noFill/>
        </p:spPr>
        <p:txBody>
          <a:bodyPr wrap="square">
            <a:spAutoFit/>
          </a:bodyPr>
          <a:lstStyle/>
          <a:p>
            <a:pPr algn="l">
              <a:defRPr sz="1100" b="0">
                <a:solidFill>
                  <a:srgbClr val="6C757D"/>
                </a:solidFill>
              </a:defRPr>
            </a:pPr>
            <a:r>
              <a:t>F21</a:t>
            </a:r>
          </a:p>
        </p:txBody>
      </p:sp>
      <p:sp>
        <p:nvSpPr>
          <p:cNvPr id="32" name="TextBox 31"/>
          <p:cNvSpPr txBox="1"/>
          <p:nvPr/>
        </p:nvSpPr>
        <p:spPr>
          <a:xfrm>
            <a:off x="3383280" y="4882896"/>
            <a:ext cx="8229600" cy="365760"/>
          </a:xfrm>
          <a:prstGeom prst="rect">
            <a:avLst/>
          </a:prstGeom>
          <a:noFill/>
        </p:spPr>
        <p:txBody>
          <a:bodyPr wrap="square">
            <a:spAutoFit/>
          </a:bodyPr>
          <a:lstStyle/>
          <a:p>
            <a:pPr algn="l">
              <a:defRPr sz="1300" b="0">
                <a:solidFill>
                  <a:srgbClr val="1A1A2E"/>
                </a:solidFill>
              </a:defRPr>
            </a:pPr>
            <a:r>
              <a:t>8 types, badge compteur, marquer comme lu</a:t>
            </a:r>
          </a:p>
        </p:txBody>
      </p:sp>
      <p:sp>
        <p:nvSpPr>
          <p:cNvPr id="33" name="TextBox 32"/>
          <p:cNvSpPr txBox="1"/>
          <p:nvPr/>
        </p:nvSpPr>
        <p:spPr>
          <a:xfrm>
            <a:off x="457200" y="5321808"/>
            <a:ext cx="2011680" cy="365760"/>
          </a:xfrm>
          <a:prstGeom prst="rect">
            <a:avLst/>
          </a:prstGeom>
          <a:noFill/>
        </p:spPr>
        <p:txBody>
          <a:bodyPr wrap="square">
            <a:spAutoFit/>
          </a:bodyPr>
          <a:lstStyle/>
          <a:p>
            <a:pPr algn="l">
              <a:defRPr sz="1300" b="1">
                <a:solidFill>
                  <a:srgbClr val="6F42C1"/>
                </a:solidFill>
              </a:defRPr>
            </a:pPr>
            <a:r>
              <a:t>Administration</a:t>
            </a:r>
          </a:p>
        </p:txBody>
      </p:sp>
      <p:sp>
        <p:nvSpPr>
          <p:cNvPr id="34" name="TextBox 33"/>
          <p:cNvSpPr txBox="1"/>
          <p:nvPr/>
        </p:nvSpPr>
        <p:spPr>
          <a:xfrm>
            <a:off x="2468880" y="5321808"/>
            <a:ext cx="914400" cy="365760"/>
          </a:xfrm>
          <a:prstGeom prst="rect">
            <a:avLst/>
          </a:prstGeom>
          <a:noFill/>
        </p:spPr>
        <p:txBody>
          <a:bodyPr wrap="square">
            <a:spAutoFit/>
          </a:bodyPr>
          <a:lstStyle/>
          <a:p>
            <a:pPr algn="l">
              <a:defRPr sz="1100" b="0">
                <a:solidFill>
                  <a:srgbClr val="6C757D"/>
                </a:solidFill>
              </a:defRPr>
            </a:pPr>
            <a:r>
              <a:t>F22</a:t>
            </a:r>
          </a:p>
        </p:txBody>
      </p:sp>
      <p:sp>
        <p:nvSpPr>
          <p:cNvPr id="35" name="TextBox 34"/>
          <p:cNvSpPr txBox="1"/>
          <p:nvPr/>
        </p:nvSpPr>
        <p:spPr>
          <a:xfrm>
            <a:off x="3383280" y="5321808"/>
            <a:ext cx="8229600" cy="365760"/>
          </a:xfrm>
          <a:prstGeom prst="rect">
            <a:avLst/>
          </a:prstGeom>
          <a:noFill/>
        </p:spPr>
        <p:txBody>
          <a:bodyPr wrap="square">
            <a:spAutoFit/>
          </a:bodyPr>
          <a:lstStyle/>
          <a:p>
            <a:pPr algn="l">
              <a:defRPr sz="1300" b="0">
                <a:solidFill>
                  <a:srgbClr val="1A1A2E"/>
                </a:solidFill>
              </a:defRPr>
            </a:pPr>
            <a:r>
              <a:t>Stats, gestion utilisateurs (CRUD, roles)</a:t>
            </a:r>
          </a:p>
        </p:txBody>
      </p:sp>
      <p:sp>
        <p:nvSpPr>
          <p:cNvPr id="36" name="TextBox 35"/>
          <p:cNvSpPr txBox="1"/>
          <p:nvPr/>
        </p:nvSpPr>
        <p:spPr>
          <a:xfrm>
            <a:off x="457200" y="5760720"/>
            <a:ext cx="2011680" cy="365760"/>
          </a:xfrm>
          <a:prstGeom prst="rect">
            <a:avLst/>
          </a:prstGeom>
          <a:noFill/>
        </p:spPr>
        <p:txBody>
          <a:bodyPr wrap="square">
            <a:spAutoFit/>
          </a:bodyPr>
          <a:lstStyle/>
          <a:p>
            <a:pPr algn="l">
              <a:defRPr sz="1300" b="1">
                <a:solidFill>
                  <a:srgbClr val="856404"/>
                </a:solidFill>
              </a:defRPr>
            </a:pPr>
            <a:r>
              <a:t>Theming</a:t>
            </a:r>
          </a:p>
        </p:txBody>
      </p:sp>
      <p:sp>
        <p:nvSpPr>
          <p:cNvPr id="37" name="TextBox 36"/>
          <p:cNvSpPr txBox="1"/>
          <p:nvPr/>
        </p:nvSpPr>
        <p:spPr>
          <a:xfrm>
            <a:off x="2468880" y="5760720"/>
            <a:ext cx="914400" cy="365760"/>
          </a:xfrm>
          <a:prstGeom prst="rect">
            <a:avLst/>
          </a:prstGeom>
          <a:noFill/>
        </p:spPr>
        <p:txBody>
          <a:bodyPr wrap="square">
            <a:spAutoFit/>
          </a:bodyPr>
          <a:lstStyle/>
          <a:p>
            <a:pPr algn="l">
              <a:defRPr sz="1100" b="0">
                <a:solidFill>
                  <a:srgbClr val="6C757D"/>
                </a:solidFill>
              </a:defRPr>
            </a:pPr>
            <a:r>
              <a:t>F23-F24</a:t>
            </a:r>
          </a:p>
        </p:txBody>
      </p:sp>
      <p:sp>
        <p:nvSpPr>
          <p:cNvPr id="38" name="TextBox 37"/>
          <p:cNvSpPr txBox="1"/>
          <p:nvPr/>
        </p:nvSpPr>
        <p:spPr>
          <a:xfrm>
            <a:off x="3383280" y="5760720"/>
            <a:ext cx="8229600" cy="365760"/>
          </a:xfrm>
          <a:prstGeom prst="rect">
            <a:avLst/>
          </a:prstGeom>
          <a:noFill/>
        </p:spPr>
        <p:txBody>
          <a:bodyPr wrap="square">
            <a:spAutoFit/>
          </a:bodyPr>
          <a:lstStyle/>
          <a:p>
            <a:pPr algn="l">
              <a:defRPr sz="1300" b="0">
                <a:solidFill>
                  <a:srgbClr val="1A1A2E"/>
                </a:solidFill>
              </a:defRPr>
            </a:pPr>
            <a:r>
              <a:t>Themes saisonniers auto, Responsive Bootstrap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Rectangle 5"/>
          <p:cNvSpPr/>
          <p:nvPr/>
        </p:nvSpPr>
        <p:spPr>
          <a:xfrm>
            <a:off x="365760" y="1234440"/>
            <a:ext cx="11338560" cy="3657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6b. Cas d'utilisation principaux</a:t>
            </a:r>
          </a:p>
        </p:txBody>
      </p:sp>
      <p:sp>
        <p:nvSpPr>
          <p:cNvPr id="5" name="TextBox 4"/>
          <p:cNvSpPr txBox="1"/>
          <p:nvPr/>
        </p:nvSpPr>
        <p:spPr>
          <a:xfrm>
            <a:off x="457200" y="1280160"/>
            <a:ext cx="11247120" cy="365760"/>
          </a:xfrm>
          <a:prstGeom prst="rect">
            <a:avLst/>
          </a:prstGeom>
          <a:noFill/>
        </p:spPr>
        <p:txBody>
          <a:bodyPr wrap="none">
            <a:spAutoFit/>
          </a:bodyPr>
          <a:lstStyle/>
          <a:p>
            <a:r>
              <a:rPr sz="1200" b="1">
                <a:solidFill>
                  <a:srgbClr val="FFFFFF"/>
                </a:solidFill>
              </a:rPr>
              <a:t>Code    </a:t>
            </a:r>
            <a:r>
              <a:rPr sz="1200" b="1">
                <a:solidFill>
                  <a:srgbClr val="FFFFFF"/>
                </a:solidFill>
              </a:rPr>
              <a:t>Cas d'utilisation    </a:t>
            </a:r>
            <a:r>
              <a:rPr sz="1200" b="1">
                <a:solidFill>
                  <a:srgbClr val="FFFFFF"/>
                </a:solidFill>
              </a:rPr>
              <a:t>Acteur    </a:t>
            </a:r>
            <a:r>
              <a:rPr sz="1200" b="1">
                <a:solidFill>
                  <a:srgbClr val="FFFFFF"/>
                </a:solidFill>
              </a:rPr>
              <a:t>Description    </a:t>
            </a:r>
          </a:p>
        </p:txBody>
      </p:sp>
      <p:sp>
        <p:nvSpPr>
          <p:cNvPr id="7" name="Rectangle 6"/>
          <p:cNvSpPr/>
          <p:nvPr/>
        </p:nvSpPr>
        <p:spPr>
          <a:xfrm>
            <a:off x="365760" y="1737360"/>
            <a:ext cx="11338560" cy="457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83080"/>
            <a:ext cx="914400" cy="320040"/>
          </a:xfrm>
          <a:prstGeom prst="rect">
            <a:avLst/>
          </a:prstGeom>
          <a:noFill/>
        </p:spPr>
        <p:txBody>
          <a:bodyPr wrap="square">
            <a:spAutoFit/>
          </a:bodyPr>
          <a:lstStyle/>
          <a:p>
            <a:pPr algn="l">
              <a:defRPr sz="1200" b="1">
                <a:solidFill>
                  <a:srgbClr val="0A66C2"/>
                </a:solidFill>
              </a:defRPr>
            </a:pPr>
            <a:r>
              <a:t>CU-01</a:t>
            </a:r>
          </a:p>
        </p:txBody>
      </p:sp>
      <p:sp>
        <p:nvSpPr>
          <p:cNvPr id="9" name="TextBox 8"/>
          <p:cNvSpPr txBox="1"/>
          <p:nvPr/>
        </p:nvSpPr>
        <p:spPr>
          <a:xfrm>
            <a:off x="1554480" y="1783080"/>
            <a:ext cx="2560320" cy="320040"/>
          </a:xfrm>
          <a:prstGeom prst="rect">
            <a:avLst/>
          </a:prstGeom>
          <a:noFill/>
        </p:spPr>
        <p:txBody>
          <a:bodyPr wrap="square">
            <a:spAutoFit/>
          </a:bodyPr>
          <a:lstStyle/>
          <a:p>
            <a:pPr algn="l">
              <a:defRPr sz="1200" b="1">
                <a:solidFill>
                  <a:srgbClr val="1A1A2E"/>
                </a:solidFill>
              </a:defRPr>
            </a:pPr>
            <a:r>
              <a:t>S'inscrire</a:t>
            </a:r>
          </a:p>
        </p:txBody>
      </p:sp>
      <p:sp>
        <p:nvSpPr>
          <p:cNvPr id="10" name="TextBox 9"/>
          <p:cNvSpPr txBox="1"/>
          <p:nvPr/>
        </p:nvSpPr>
        <p:spPr>
          <a:xfrm>
            <a:off x="4114800" y="1783080"/>
            <a:ext cx="1371600" cy="320040"/>
          </a:xfrm>
          <a:prstGeom prst="rect">
            <a:avLst/>
          </a:prstGeom>
          <a:noFill/>
        </p:spPr>
        <p:txBody>
          <a:bodyPr wrap="square">
            <a:spAutoFit/>
          </a:bodyPr>
          <a:lstStyle/>
          <a:p>
            <a:pPr algn="l">
              <a:defRPr sz="1200" b="0">
                <a:solidFill>
                  <a:srgbClr val="6C757D"/>
                </a:solidFill>
              </a:defRPr>
            </a:pPr>
            <a:r>
              <a:t>Visiteur</a:t>
            </a:r>
          </a:p>
        </p:txBody>
      </p:sp>
      <p:sp>
        <p:nvSpPr>
          <p:cNvPr id="11" name="TextBox 10"/>
          <p:cNvSpPr txBox="1"/>
          <p:nvPr/>
        </p:nvSpPr>
        <p:spPr>
          <a:xfrm>
            <a:off x="5486400" y="1783080"/>
            <a:ext cx="6126480" cy="320040"/>
          </a:xfrm>
          <a:prstGeom prst="rect">
            <a:avLst/>
          </a:prstGeom>
          <a:noFill/>
        </p:spPr>
        <p:txBody>
          <a:bodyPr wrap="square">
            <a:spAutoFit/>
          </a:bodyPr>
          <a:lstStyle/>
          <a:p>
            <a:pPr algn="l">
              <a:defRPr sz="1200" b="0">
                <a:solidFill>
                  <a:srgbClr val="1A1A2E"/>
                </a:solidFill>
              </a:defRPr>
            </a:pPr>
            <a:r>
              <a:t>Email ECE, pseudo unique, mdp &gt;= 8 car.</a:t>
            </a:r>
          </a:p>
        </p:txBody>
      </p:sp>
      <p:sp>
        <p:nvSpPr>
          <p:cNvPr id="12" name="Rectangle 11"/>
          <p:cNvSpPr/>
          <p:nvPr/>
        </p:nvSpPr>
        <p:spPr>
          <a:xfrm>
            <a:off x="365760" y="2240280"/>
            <a:ext cx="113385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286000"/>
            <a:ext cx="914400" cy="320040"/>
          </a:xfrm>
          <a:prstGeom prst="rect">
            <a:avLst/>
          </a:prstGeom>
          <a:noFill/>
        </p:spPr>
        <p:txBody>
          <a:bodyPr wrap="square">
            <a:spAutoFit/>
          </a:bodyPr>
          <a:lstStyle/>
          <a:p>
            <a:pPr algn="l">
              <a:defRPr sz="1200" b="1">
                <a:solidFill>
                  <a:srgbClr val="0A66C2"/>
                </a:solidFill>
              </a:defRPr>
            </a:pPr>
            <a:r>
              <a:t>CU-02</a:t>
            </a:r>
          </a:p>
        </p:txBody>
      </p:sp>
      <p:sp>
        <p:nvSpPr>
          <p:cNvPr id="14" name="TextBox 13"/>
          <p:cNvSpPr txBox="1"/>
          <p:nvPr/>
        </p:nvSpPr>
        <p:spPr>
          <a:xfrm>
            <a:off x="1554480" y="2286000"/>
            <a:ext cx="2560320" cy="320040"/>
          </a:xfrm>
          <a:prstGeom prst="rect">
            <a:avLst/>
          </a:prstGeom>
          <a:noFill/>
        </p:spPr>
        <p:txBody>
          <a:bodyPr wrap="square">
            <a:spAutoFit/>
          </a:bodyPr>
          <a:lstStyle/>
          <a:p>
            <a:pPr algn="l">
              <a:defRPr sz="1200" b="1">
                <a:solidFill>
                  <a:srgbClr val="1A1A2E"/>
                </a:solidFill>
              </a:defRPr>
            </a:pPr>
            <a:r>
              <a:t>Se connecter</a:t>
            </a:r>
          </a:p>
        </p:txBody>
      </p:sp>
      <p:sp>
        <p:nvSpPr>
          <p:cNvPr id="15" name="TextBox 14"/>
          <p:cNvSpPr txBox="1"/>
          <p:nvPr/>
        </p:nvSpPr>
        <p:spPr>
          <a:xfrm>
            <a:off x="4114800" y="2286000"/>
            <a:ext cx="1371600" cy="320040"/>
          </a:xfrm>
          <a:prstGeom prst="rect">
            <a:avLst/>
          </a:prstGeom>
          <a:noFill/>
        </p:spPr>
        <p:txBody>
          <a:bodyPr wrap="square">
            <a:spAutoFit/>
          </a:bodyPr>
          <a:lstStyle/>
          <a:p>
            <a:pPr algn="l">
              <a:defRPr sz="1200" b="0">
                <a:solidFill>
                  <a:srgbClr val="6C757D"/>
                </a:solidFill>
              </a:defRPr>
            </a:pPr>
            <a:r>
              <a:t>Visiteur</a:t>
            </a:r>
          </a:p>
        </p:txBody>
      </p:sp>
      <p:sp>
        <p:nvSpPr>
          <p:cNvPr id="16" name="TextBox 15"/>
          <p:cNvSpPr txBox="1"/>
          <p:nvPr/>
        </p:nvSpPr>
        <p:spPr>
          <a:xfrm>
            <a:off x="5486400" y="2286000"/>
            <a:ext cx="6126480" cy="320040"/>
          </a:xfrm>
          <a:prstGeom prst="rect">
            <a:avLst/>
          </a:prstGeom>
          <a:noFill/>
        </p:spPr>
        <p:txBody>
          <a:bodyPr wrap="square">
            <a:spAutoFit/>
          </a:bodyPr>
          <a:lstStyle/>
          <a:p>
            <a:pPr algn="l">
              <a:defRPr sz="1200" b="0">
                <a:solidFill>
                  <a:srgbClr val="1A1A2E"/>
                </a:solidFill>
              </a:defRPr>
            </a:pPr>
            <a:r>
              <a:t>Pseudo/email + mdp, session PHP, bcrypt</a:t>
            </a:r>
          </a:p>
        </p:txBody>
      </p:sp>
      <p:sp>
        <p:nvSpPr>
          <p:cNvPr id="17" name="Rectangle 16"/>
          <p:cNvSpPr/>
          <p:nvPr/>
        </p:nvSpPr>
        <p:spPr>
          <a:xfrm>
            <a:off x="365760" y="2743200"/>
            <a:ext cx="11338560" cy="457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788920"/>
            <a:ext cx="914400" cy="320040"/>
          </a:xfrm>
          <a:prstGeom prst="rect">
            <a:avLst/>
          </a:prstGeom>
          <a:noFill/>
        </p:spPr>
        <p:txBody>
          <a:bodyPr wrap="square">
            <a:spAutoFit/>
          </a:bodyPr>
          <a:lstStyle/>
          <a:p>
            <a:pPr algn="l">
              <a:defRPr sz="1200" b="1">
                <a:solidFill>
                  <a:srgbClr val="0A66C2"/>
                </a:solidFill>
              </a:defRPr>
            </a:pPr>
            <a:r>
              <a:t>CU-03</a:t>
            </a:r>
          </a:p>
        </p:txBody>
      </p:sp>
      <p:sp>
        <p:nvSpPr>
          <p:cNvPr id="19" name="TextBox 18"/>
          <p:cNvSpPr txBox="1"/>
          <p:nvPr/>
        </p:nvSpPr>
        <p:spPr>
          <a:xfrm>
            <a:off x="1554480" y="2788920"/>
            <a:ext cx="2560320" cy="320040"/>
          </a:xfrm>
          <a:prstGeom prst="rect">
            <a:avLst/>
          </a:prstGeom>
          <a:noFill/>
        </p:spPr>
        <p:txBody>
          <a:bodyPr wrap="square">
            <a:spAutoFit/>
          </a:bodyPr>
          <a:lstStyle/>
          <a:p>
            <a:pPr algn="l">
              <a:defRPr sz="1200" b="1">
                <a:solidFill>
                  <a:srgbClr val="1A1A2E"/>
                </a:solidFill>
              </a:defRPr>
            </a:pPr>
            <a:r>
              <a:t>Publier du contenu</a:t>
            </a:r>
          </a:p>
        </p:txBody>
      </p:sp>
      <p:sp>
        <p:nvSpPr>
          <p:cNvPr id="20" name="TextBox 19"/>
          <p:cNvSpPr txBox="1"/>
          <p:nvPr/>
        </p:nvSpPr>
        <p:spPr>
          <a:xfrm>
            <a:off x="4114800" y="2788920"/>
            <a:ext cx="1371600" cy="320040"/>
          </a:xfrm>
          <a:prstGeom prst="rect">
            <a:avLst/>
          </a:prstGeom>
          <a:noFill/>
        </p:spPr>
        <p:txBody>
          <a:bodyPr wrap="square">
            <a:spAutoFit/>
          </a:bodyPr>
          <a:lstStyle/>
          <a:p>
            <a:pPr algn="l">
              <a:defRPr sz="1200" b="0">
                <a:solidFill>
                  <a:srgbClr val="6C757D"/>
                </a:solidFill>
              </a:defRPr>
            </a:pPr>
            <a:r>
              <a:t>Auteur</a:t>
            </a:r>
          </a:p>
        </p:txBody>
      </p:sp>
      <p:sp>
        <p:nvSpPr>
          <p:cNvPr id="21" name="TextBox 20"/>
          <p:cNvSpPr txBox="1"/>
          <p:nvPr/>
        </p:nvSpPr>
        <p:spPr>
          <a:xfrm>
            <a:off x="5486400" y="2788920"/>
            <a:ext cx="6126480" cy="320040"/>
          </a:xfrm>
          <a:prstGeom prst="rect">
            <a:avLst/>
          </a:prstGeom>
          <a:noFill/>
        </p:spPr>
        <p:txBody>
          <a:bodyPr wrap="square">
            <a:spAutoFit/>
          </a:bodyPr>
          <a:lstStyle/>
          <a:p>
            <a:pPr algn="l">
              <a:defRPr sz="1200" b="0">
                <a:solidFill>
                  <a:srgbClr val="1A1A2E"/>
                </a:solidFill>
              </a:defRPr>
            </a:pPr>
            <a:r>
              <a:t>5 types, visibilite, upload fichier, AJAX</a:t>
            </a:r>
          </a:p>
        </p:txBody>
      </p:sp>
      <p:sp>
        <p:nvSpPr>
          <p:cNvPr id="22" name="Rectangle 21"/>
          <p:cNvSpPr/>
          <p:nvPr/>
        </p:nvSpPr>
        <p:spPr>
          <a:xfrm>
            <a:off x="365760" y="3246120"/>
            <a:ext cx="113385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291840"/>
            <a:ext cx="914400" cy="320040"/>
          </a:xfrm>
          <a:prstGeom prst="rect">
            <a:avLst/>
          </a:prstGeom>
          <a:noFill/>
        </p:spPr>
        <p:txBody>
          <a:bodyPr wrap="square">
            <a:spAutoFit/>
          </a:bodyPr>
          <a:lstStyle/>
          <a:p>
            <a:pPr algn="l">
              <a:defRPr sz="1200" b="1">
                <a:solidFill>
                  <a:srgbClr val="0A66C2"/>
                </a:solidFill>
              </a:defRPr>
            </a:pPr>
            <a:r>
              <a:t>CU-04</a:t>
            </a:r>
          </a:p>
        </p:txBody>
      </p:sp>
      <p:sp>
        <p:nvSpPr>
          <p:cNvPr id="24" name="TextBox 23"/>
          <p:cNvSpPr txBox="1"/>
          <p:nvPr/>
        </p:nvSpPr>
        <p:spPr>
          <a:xfrm>
            <a:off x="1554480" y="3291840"/>
            <a:ext cx="2560320" cy="320040"/>
          </a:xfrm>
          <a:prstGeom prst="rect">
            <a:avLst/>
          </a:prstGeom>
          <a:noFill/>
        </p:spPr>
        <p:txBody>
          <a:bodyPr wrap="square">
            <a:spAutoFit/>
          </a:bodyPr>
          <a:lstStyle/>
          <a:p>
            <a:pPr algn="l">
              <a:defRPr sz="1200" b="1">
                <a:solidFill>
                  <a:srgbClr val="1A1A2E"/>
                </a:solidFill>
              </a:defRPr>
            </a:pPr>
            <a:r>
              <a:t>Gerer son reseau</a:t>
            </a:r>
          </a:p>
        </p:txBody>
      </p:sp>
      <p:sp>
        <p:nvSpPr>
          <p:cNvPr id="25" name="TextBox 24"/>
          <p:cNvSpPr txBox="1"/>
          <p:nvPr/>
        </p:nvSpPr>
        <p:spPr>
          <a:xfrm>
            <a:off x="4114800" y="3291840"/>
            <a:ext cx="1371600" cy="320040"/>
          </a:xfrm>
          <a:prstGeom prst="rect">
            <a:avLst/>
          </a:prstGeom>
          <a:noFill/>
        </p:spPr>
        <p:txBody>
          <a:bodyPr wrap="square">
            <a:spAutoFit/>
          </a:bodyPr>
          <a:lstStyle/>
          <a:p>
            <a:pPr algn="l">
              <a:defRPr sz="1200" b="0">
                <a:solidFill>
                  <a:srgbClr val="6C757D"/>
                </a:solidFill>
              </a:defRPr>
            </a:pPr>
            <a:r>
              <a:t>Auteur</a:t>
            </a:r>
          </a:p>
        </p:txBody>
      </p:sp>
      <p:sp>
        <p:nvSpPr>
          <p:cNvPr id="26" name="TextBox 25"/>
          <p:cNvSpPr txBox="1"/>
          <p:nvPr/>
        </p:nvSpPr>
        <p:spPr>
          <a:xfrm>
            <a:off x="5486400" y="3291840"/>
            <a:ext cx="6126480" cy="320040"/>
          </a:xfrm>
          <a:prstGeom prst="rect">
            <a:avLst/>
          </a:prstGeom>
          <a:noFill/>
        </p:spPr>
        <p:txBody>
          <a:bodyPr wrap="square">
            <a:spAutoFit/>
          </a:bodyPr>
          <a:lstStyle/>
          <a:p>
            <a:pPr algn="l">
              <a:defRPr sz="1200" b="0">
                <a:solidFill>
                  <a:srgbClr val="1A1A2E"/>
                </a:solidFill>
              </a:defRPr>
            </a:pPr>
            <a:r>
              <a:t>Demande → Accepte/Refuse, notification</a:t>
            </a:r>
          </a:p>
        </p:txBody>
      </p:sp>
      <p:sp>
        <p:nvSpPr>
          <p:cNvPr id="27" name="Rectangle 26"/>
          <p:cNvSpPr/>
          <p:nvPr/>
        </p:nvSpPr>
        <p:spPr>
          <a:xfrm>
            <a:off x="365760" y="3749040"/>
            <a:ext cx="11338560" cy="457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794760"/>
            <a:ext cx="914400" cy="320040"/>
          </a:xfrm>
          <a:prstGeom prst="rect">
            <a:avLst/>
          </a:prstGeom>
          <a:noFill/>
        </p:spPr>
        <p:txBody>
          <a:bodyPr wrap="square">
            <a:spAutoFit/>
          </a:bodyPr>
          <a:lstStyle/>
          <a:p>
            <a:pPr algn="l">
              <a:defRPr sz="1200" b="1">
                <a:solidFill>
                  <a:srgbClr val="0A66C2"/>
                </a:solidFill>
              </a:defRPr>
            </a:pPr>
            <a:r>
              <a:t>CU-05</a:t>
            </a:r>
          </a:p>
        </p:txBody>
      </p:sp>
      <p:sp>
        <p:nvSpPr>
          <p:cNvPr id="29" name="TextBox 28"/>
          <p:cNvSpPr txBox="1"/>
          <p:nvPr/>
        </p:nvSpPr>
        <p:spPr>
          <a:xfrm>
            <a:off x="1554480" y="3794760"/>
            <a:ext cx="2560320" cy="320040"/>
          </a:xfrm>
          <a:prstGeom prst="rect">
            <a:avLst/>
          </a:prstGeom>
          <a:noFill/>
        </p:spPr>
        <p:txBody>
          <a:bodyPr wrap="square">
            <a:spAutoFit/>
          </a:bodyPr>
          <a:lstStyle/>
          <a:p>
            <a:pPr algn="l">
              <a:defRPr sz="1200" b="1">
                <a:solidFill>
                  <a:srgbClr val="1A1A2E"/>
                </a:solidFill>
              </a:defRPr>
            </a:pPr>
            <a:r>
              <a:t>Envoyer un message</a:t>
            </a:r>
          </a:p>
        </p:txBody>
      </p:sp>
      <p:sp>
        <p:nvSpPr>
          <p:cNvPr id="30" name="TextBox 29"/>
          <p:cNvSpPr txBox="1"/>
          <p:nvPr/>
        </p:nvSpPr>
        <p:spPr>
          <a:xfrm>
            <a:off x="4114800" y="3794760"/>
            <a:ext cx="1371600" cy="320040"/>
          </a:xfrm>
          <a:prstGeom prst="rect">
            <a:avLst/>
          </a:prstGeom>
          <a:noFill/>
        </p:spPr>
        <p:txBody>
          <a:bodyPr wrap="square">
            <a:spAutoFit/>
          </a:bodyPr>
          <a:lstStyle/>
          <a:p>
            <a:pPr algn="l">
              <a:defRPr sz="1200" b="0">
                <a:solidFill>
                  <a:srgbClr val="6C757D"/>
                </a:solidFill>
              </a:defRPr>
            </a:pPr>
            <a:r>
              <a:t>Auteur</a:t>
            </a:r>
          </a:p>
        </p:txBody>
      </p:sp>
      <p:sp>
        <p:nvSpPr>
          <p:cNvPr id="31" name="TextBox 30"/>
          <p:cNvSpPr txBox="1"/>
          <p:nvPr/>
        </p:nvSpPr>
        <p:spPr>
          <a:xfrm>
            <a:off x="5486400" y="3794760"/>
            <a:ext cx="6126480" cy="320040"/>
          </a:xfrm>
          <a:prstGeom prst="rect">
            <a:avLst/>
          </a:prstGeom>
          <a:noFill/>
        </p:spPr>
        <p:txBody>
          <a:bodyPr wrap="square">
            <a:spAutoFit/>
          </a:bodyPr>
          <a:lstStyle/>
          <a:p>
            <a:pPr algn="l">
              <a:defRPr sz="1200" b="0">
                <a:solidFill>
                  <a:srgbClr val="1A1A2E"/>
                </a:solidFill>
              </a:defRPr>
            </a:pPr>
            <a:r>
              <a:t>Chat 1-a-1 entre amis, polling 3s</a:t>
            </a:r>
          </a:p>
        </p:txBody>
      </p:sp>
      <p:sp>
        <p:nvSpPr>
          <p:cNvPr id="32" name="Rectangle 31"/>
          <p:cNvSpPr/>
          <p:nvPr/>
        </p:nvSpPr>
        <p:spPr>
          <a:xfrm>
            <a:off x="365760" y="4251960"/>
            <a:ext cx="113385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297680"/>
            <a:ext cx="914400" cy="320040"/>
          </a:xfrm>
          <a:prstGeom prst="rect">
            <a:avLst/>
          </a:prstGeom>
          <a:noFill/>
        </p:spPr>
        <p:txBody>
          <a:bodyPr wrap="square">
            <a:spAutoFit/>
          </a:bodyPr>
          <a:lstStyle/>
          <a:p>
            <a:pPr algn="l">
              <a:defRPr sz="1200" b="1">
                <a:solidFill>
                  <a:srgbClr val="0A66C2"/>
                </a:solidFill>
              </a:defRPr>
            </a:pPr>
            <a:r>
              <a:t>CU-06</a:t>
            </a:r>
          </a:p>
        </p:txBody>
      </p:sp>
      <p:sp>
        <p:nvSpPr>
          <p:cNvPr id="34" name="TextBox 33"/>
          <p:cNvSpPr txBox="1"/>
          <p:nvPr/>
        </p:nvSpPr>
        <p:spPr>
          <a:xfrm>
            <a:off x="1554480" y="4297680"/>
            <a:ext cx="2560320" cy="320040"/>
          </a:xfrm>
          <a:prstGeom prst="rect">
            <a:avLst/>
          </a:prstGeom>
          <a:noFill/>
        </p:spPr>
        <p:txBody>
          <a:bodyPr wrap="square">
            <a:spAutoFit/>
          </a:bodyPr>
          <a:lstStyle/>
          <a:p>
            <a:pPr algn="l">
              <a:defRPr sz="1200" b="1">
                <a:solidFill>
                  <a:srgbClr val="1A1A2E"/>
                </a:solidFill>
              </a:defRPr>
            </a:pPr>
            <a:r>
              <a:t>Consulter les emplois</a:t>
            </a:r>
          </a:p>
        </p:txBody>
      </p:sp>
      <p:sp>
        <p:nvSpPr>
          <p:cNvPr id="35" name="TextBox 34"/>
          <p:cNvSpPr txBox="1"/>
          <p:nvPr/>
        </p:nvSpPr>
        <p:spPr>
          <a:xfrm>
            <a:off x="4114800" y="4297680"/>
            <a:ext cx="1371600" cy="320040"/>
          </a:xfrm>
          <a:prstGeom prst="rect">
            <a:avLst/>
          </a:prstGeom>
          <a:noFill/>
        </p:spPr>
        <p:txBody>
          <a:bodyPr wrap="square">
            <a:spAutoFit/>
          </a:bodyPr>
          <a:lstStyle/>
          <a:p>
            <a:pPr algn="l">
              <a:defRPr sz="1200" b="0">
                <a:solidFill>
                  <a:srgbClr val="6C757D"/>
                </a:solidFill>
              </a:defRPr>
            </a:pPr>
            <a:r>
              <a:t>Auteur</a:t>
            </a:r>
          </a:p>
        </p:txBody>
      </p:sp>
      <p:sp>
        <p:nvSpPr>
          <p:cNvPr id="36" name="TextBox 35"/>
          <p:cNvSpPr txBox="1"/>
          <p:nvPr/>
        </p:nvSpPr>
        <p:spPr>
          <a:xfrm>
            <a:off x="5486400" y="4297680"/>
            <a:ext cx="6126480" cy="320040"/>
          </a:xfrm>
          <a:prstGeom prst="rect">
            <a:avLst/>
          </a:prstGeom>
          <a:noFill/>
        </p:spPr>
        <p:txBody>
          <a:bodyPr wrap="square">
            <a:spAutoFit/>
          </a:bodyPr>
          <a:lstStyle/>
          <a:p>
            <a:pPr algn="l">
              <a:defRPr sz="1200" b="0">
                <a:solidFill>
                  <a:srgbClr val="1A1A2E"/>
                </a:solidFill>
              </a:defRPr>
            </a:pPr>
            <a:r>
              <a:t>Filtres, 6 types contrat, candidater</a:t>
            </a:r>
          </a:p>
        </p:txBody>
      </p:sp>
      <p:sp>
        <p:nvSpPr>
          <p:cNvPr id="37" name="Rectangle 36"/>
          <p:cNvSpPr/>
          <p:nvPr/>
        </p:nvSpPr>
        <p:spPr>
          <a:xfrm>
            <a:off x="365760" y="4754880"/>
            <a:ext cx="11338560" cy="457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4800600"/>
            <a:ext cx="914400" cy="320040"/>
          </a:xfrm>
          <a:prstGeom prst="rect">
            <a:avLst/>
          </a:prstGeom>
          <a:noFill/>
        </p:spPr>
        <p:txBody>
          <a:bodyPr wrap="square">
            <a:spAutoFit/>
          </a:bodyPr>
          <a:lstStyle/>
          <a:p>
            <a:pPr algn="l">
              <a:defRPr sz="1200" b="1">
                <a:solidFill>
                  <a:srgbClr val="0A66C2"/>
                </a:solidFill>
              </a:defRPr>
            </a:pPr>
            <a:r>
              <a:t>CU-07</a:t>
            </a:r>
          </a:p>
        </p:txBody>
      </p:sp>
      <p:sp>
        <p:nvSpPr>
          <p:cNvPr id="39" name="TextBox 38"/>
          <p:cNvSpPr txBox="1"/>
          <p:nvPr/>
        </p:nvSpPr>
        <p:spPr>
          <a:xfrm>
            <a:off x="1554480" y="4800600"/>
            <a:ext cx="2560320" cy="320040"/>
          </a:xfrm>
          <a:prstGeom prst="rect">
            <a:avLst/>
          </a:prstGeom>
          <a:noFill/>
        </p:spPr>
        <p:txBody>
          <a:bodyPr wrap="square">
            <a:spAutoFit/>
          </a:bodyPr>
          <a:lstStyle/>
          <a:p>
            <a:pPr algn="l">
              <a:defRPr sz="1200" b="1">
                <a:solidFill>
                  <a:srgbClr val="1A1A2E"/>
                </a:solidFill>
              </a:defRPr>
            </a:pPr>
            <a:r>
              <a:t>Generer son CV</a:t>
            </a:r>
          </a:p>
        </p:txBody>
      </p:sp>
      <p:sp>
        <p:nvSpPr>
          <p:cNvPr id="40" name="TextBox 39"/>
          <p:cNvSpPr txBox="1"/>
          <p:nvPr/>
        </p:nvSpPr>
        <p:spPr>
          <a:xfrm>
            <a:off x="4114800" y="4800600"/>
            <a:ext cx="1371600" cy="320040"/>
          </a:xfrm>
          <a:prstGeom prst="rect">
            <a:avLst/>
          </a:prstGeom>
          <a:noFill/>
        </p:spPr>
        <p:txBody>
          <a:bodyPr wrap="square">
            <a:spAutoFit/>
          </a:bodyPr>
          <a:lstStyle/>
          <a:p>
            <a:pPr algn="l">
              <a:defRPr sz="1200" b="0">
                <a:solidFill>
                  <a:srgbClr val="6C757D"/>
                </a:solidFill>
              </a:defRPr>
            </a:pPr>
            <a:r>
              <a:t>Auteur</a:t>
            </a:r>
          </a:p>
        </p:txBody>
      </p:sp>
      <p:sp>
        <p:nvSpPr>
          <p:cNvPr id="41" name="TextBox 40"/>
          <p:cNvSpPr txBox="1"/>
          <p:nvPr/>
        </p:nvSpPr>
        <p:spPr>
          <a:xfrm>
            <a:off x="5486400" y="4800600"/>
            <a:ext cx="6126480" cy="320040"/>
          </a:xfrm>
          <a:prstGeom prst="rect">
            <a:avLst/>
          </a:prstGeom>
          <a:noFill/>
        </p:spPr>
        <p:txBody>
          <a:bodyPr wrap="square">
            <a:spAutoFit/>
          </a:bodyPr>
          <a:lstStyle/>
          <a:p>
            <a:pPr algn="l">
              <a:defRPr sz="1200" b="0">
                <a:solidFill>
                  <a:srgbClr val="1A1A2E"/>
                </a:solidFill>
              </a:defRPr>
            </a:pPr>
            <a:r>
              <a:t>3 formats (HTML/PDF/XML), import XML</a:t>
            </a:r>
          </a:p>
        </p:txBody>
      </p:sp>
      <p:sp>
        <p:nvSpPr>
          <p:cNvPr id="42" name="Rectangle 41"/>
          <p:cNvSpPr/>
          <p:nvPr/>
        </p:nvSpPr>
        <p:spPr>
          <a:xfrm>
            <a:off x="365760" y="5257800"/>
            <a:ext cx="113385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5303520"/>
            <a:ext cx="914400" cy="320040"/>
          </a:xfrm>
          <a:prstGeom prst="rect">
            <a:avLst/>
          </a:prstGeom>
          <a:noFill/>
        </p:spPr>
        <p:txBody>
          <a:bodyPr wrap="square">
            <a:spAutoFit/>
          </a:bodyPr>
          <a:lstStyle/>
          <a:p>
            <a:pPr algn="l">
              <a:defRPr sz="1200" b="1">
                <a:solidFill>
                  <a:srgbClr val="0A66C2"/>
                </a:solidFill>
              </a:defRPr>
            </a:pPr>
            <a:r>
              <a:t>CU-08</a:t>
            </a:r>
          </a:p>
        </p:txBody>
      </p:sp>
      <p:sp>
        <p:nvSpPr>
          <p:cNvPr id="44" name="TextBox 43"/>
          <p:cNvSpPr txBox="1"/>
          <p:nvPr/>
        </p:nvSpPr>
        <p:spPr>
          <a:xfrm>
            <a:off x="1554480" y="5303520"/>
            <a:ext cx="2560320" cy="320040"/>
          </a:xfrm>
          <a:prstGeom prst="rect">
            <a:avLst/>
          </a:prstGeom>
          <a:noFill/>
        </p:spPr>
        <p:txBody>
          <a:bodyPr wrap="square">
            <a:spAutoFit/>
          </a:bodyPr>
          <a:lstStyle/>
          <a:p>
            <a:pPr algn="l">
              <a:defRPr sz="1200" b="1">
                <a:solidFill>
                  <a:srgbClr val="1A1A2E"/>
                </a:solidFill>
              </a:defRPr>
            </a:pPr>
            <a:r>
              <a:t>Gerer les utilisateurs</a:t>
            </a:r>
          </a:p>
        </p:txBody>
      </p:sp>
      <p:sp>
        <p:nvSpPr>
          <p:cNvPr id="45" name="TextBox 44"/>
          <p:cNvSpPr txBox="1"/>
          <p:nvPr/>
        </p:nvSpPr>
        <p:spPr>
          <a:xfrm>
            <a:off x="4114800" y="5303520"/>
            <a:ext cx="1371600" cy="320040"/>
          </a:xfrm>
          <a:prstGeom prst="rect">
            <a:avLst/>
          </a:prstGeom>
          <a:noFill/>
        </p:spPr>
        <p:txBody>
          <a:bodyPr wrap="square">
            <a:spAutoFit/>
          </a:bodyPr>
          <a:lstStyle/>
          <a:p>
            <a:pPr algn="l">
              <a:defRPr sz="1200" b="0">
                <a:solidFill>
                  <a:srgbClr val="6C757D"/>
                </a:solidFill>
              </a:defRPr>
            </a:pPr>
            <a:r>
              <a:t>Admin</a:t>
            </a:r>
          </a:p>
        </p:txBody>
      </p:sp>
      <p:sp>
        <p:nvSpPr>
          <p:cNvPr id="46" name="TextBox 45"/>
          <p:cNvSpPr txBox="1"/>
          <p:nvPr/>
        </p:nvSpPr>
        <p:spPr>
          <a:xfrm>
            <a:off x="5486400" y="5303520"/>
            <a:ext cx="6126480" cy="320040"/>
          </a:xfrm>
          <a:prstGeom prst="rect">
            <a:avLst/>
          </a:prstGeom>
          <a:noFill/>
        </p:spPr>
        <p:txBody>
          <a:bodyPr wrap="square">
            <a:spAutoFit/>
          </a:bodyPr>
          <a:lstStyle/>
          <a:p>
            <a:pPr algn="l">
              <a:defRPr sz="1200" b="0">
                <a:solidFill>
                  <a:srgbClr val="1A1A2E"/>
                </a:solidFill>
              </a:defRPr>
            </a:pPr>
            <a:r>
              <a:t>CRUD, roles, activer/desactiver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7. Journal d'Assistance par IA</a:t>
            </a:r>
          </a:p>
        </p:txBody>
      </p:sp>
      <p:sp>
        <p:nvSpPr>
          <p:cNvPr id="5" name="TextBox 4"/>
          <p:cNvSpPr txBox="1"/>
          <p:nvPr/>
        </p:nvSpPr>
        <p:spPr>
          <a:xfrm>
            <a:off x="548640" y="822960"/>
            <a:ext cx="10972800" cy="274320"/>
          </a:xfrm>
          <a:prstGeom prst="rect">
            <a:avLst/>
          </a:prstGeom>
          <a:noFill/>
        </p:spPr>
        <p:txBody>
          <a:bodyPr wrap="square">
            <a:spAutoFit/>
          </a:bodyPr>
          <a:lstStyle/>
          <a:p>
            <a:pPr algn="l">
              <a:defRPr sz="1400" b="0">
                <a:solidFill>
                  <a:srgbClr val="AAAACC"/>
                </a:solidFill>
              </a:defRPr>
            </a:pPr>
            <a:r>
              <a:t>Utilisation transparente et encadree de l'IA generative</a:t>
            </a:r>
          </a:p>
        </p:txBody>
      </p:sp>
      <p:sp>
        <p:nvSpPr>
          <p:cNvPr id="6" name="TextBox 5"/>
          <p:cNvSpPr txBox="1"/>
          <p:nvPr/>
        </p:nvSpPr>
        <p:spPr>
          <a:xfrm>
            <a:off x="548640" y="1371600"/>
            <a:ext cx="5486400" cy="320040"/>
          </a:xfrm>
          <a:prstGeom prst="rect">
            <a:avLst/>
          </a:prstGeom>
          <a:noFill/>
        </p:spPr>
        <p:txBody>
          <a:bodyPr wrap="square">
            <a:spAutoFit/>
          </a:bodyPr>
          <a:lstStyle/>
          <a:p>
            <a:pPr algn="l">
              <a:defRPr sz="1600" b="1">
                <a:solidFill>
                  <a:srgbClr val="1A1A2E"/>
                </a:solidFill>
              </a:defRPr>
            </a:pPr>
            <a:r>
              <a:t>Outil utilise :  Cursor IDE (modele Claude Opus 4.6)</a:t>
            </a:r>
          </a:p>
        </p:txBody>
      </p:sp>
      <p:sp>
        <p:nvSpPr>
          <p:cNvPr id="7" name="TextBox 6"/>
          <p:cNvSpPr txBox="1"/>
          <p:nvPr/>
        </p:nvSpPr>
        <p:spPr>
          <a:xfrm>
            <a:off x="548640" y="1783080"/>
            <a:ext cx="5486400" cy="320040"/>
          </a:xfrm>
          <a:prstGeom prst="rect">
            <a:avLst/>
          </a:prstGeom>
          <a:noFill/>
        </p:spPr>
        <p:txBody>
          <a:bodyPr wrap="square">
            <a:spAutoFit/>
          </a:bodyPr>
          <a:lstStyle/>
          <a:p>
            <a:pPr algn="l">
              <a:defRPr sz="1600" b="1">
                <a:solidFill>
                  <a:srgbClr val="DC3545"/>
                </a:solidFill>
              </a:defRPr>
            </a:pPr>
            <a:r>
              <a:t>Pourcentage estime de code influence par l'IA :  ~35%</a:t>
            </a:r>
          </a:p>
        </p:txBody>
      </p:sp>
      <p:sp>
        <p:nvSpPr>
          <p:cNvPr id="8" name="Rectangle 7"/>
          <p:cNvSpPr/>
          <p:nvPr/>
        </p:nvSpPr>
        <p:spPr>
          <a:xfrm>
            <a:off x="548640" y="2377440"/>
            <a:ext cx="5303520" cy="228600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68880"/>
            <a:ext cx="5029200" cy="320040"/>
          </a:xfrm>
          <a:prstGeom prst="rect">
            <a:avLst/>
          </a:prstGeom>
          <a:noFill/>
        </p:spPr>
        <p:txBody>
          <a:bodyPr wrap="square">
            <a:spAutoFit/>
          </a:bodyPr>
          <a:lstStyle/>
          <a:p>
            <a:pPr algn="l">
              <a:defRPr sz="1300" b="1">
                <a:solidFill>
                  <a:srgbClr val="0A66C2"/>
                </a:solidFill>
              </a:defRPr>
            </a:pPr>
            <a:r>
              <a:t>Taches ou l'IA a ete utilisee</a:t>
            </a:r>
          </a:p>
        </p:txBody>
      </p:sp>
      <p:sp>
        <p:nvSpPr>
          <p:cNvPr id="10" name="TextBox 9"/>
          <p:cNvSpPr txBox="1"/>
          <p:nvPr/>
        </p:nvSpPr>
        <p:spPr>
          <a:xfrm>
            <a:off x="685800" y="2788920"/>
            <a:ext cx="5029200" cy="1783080"/>
          </a:xfrm>
          <a:prstGeom prst="rect">
            <a:avLst/>
          </a:prstGeom>
          <a:noFill/>
        </p:spPr>
        <p:txBody>
          <a:bodyPr wrap="square">
            <a:spAutoFit/>
          </a:bodyPr>
          <a:lstStyle/>
          <a:p>
            <a:pPr>
              <a:spcAft>
                <a:spcPts val="600"/>
              </a:spcAft>
              <a:defRPr sz="1200">
                <a:solidFill>
                  <a:srgbClr val="6C757D"/>
                </a:solidFill>
              </a:defRPr>
            </a:pPr>
            <a:r>
              <a:t>Brainstorming sur la structure des pages et des API</a:t>
            </a:r>
          </a:p>
          <a:p>
            <a:pPr>
              <a:spcAft>
                <a:spcPts val="600"/>
              </a:spcAft>
              <a:defRPr sz="1200">
                <a:solidFill>
                  <a:srgbClr val="6C757D"/>
                </a:solidFill>
              </a:defRPr>
            </a:pPr>
            <a:r>
              <a:t>Assistance au debogage (erreurs PHP, requetes SQL)</a:t>
            </a:r>
          </a:p>
          <a:p>
            <a:pPr>
              <a:spcAft>
                <a:spcPts val="600"/>
              </a:spcAft>
              <a:defRPr sz="1200">
                <a:solidFill>
                  <a:srgbClr val="6C757D"/>
                </a:solidFill>
              </a:defRPr>
            </a:pPr>
            <a:r>
              <a:t>Suggestions de structure pour les requetes PDO preparees</a:t>
            </a:r>
          </a:p>
          <a:p>
            <a:pPr>
              <a:spcAft>
                <a:spcPts val="600"/>
              </a:spcAft>
              <a:defRPr sz="1200">
                <a:solidFill>
                  <a:srgbClr val="6C757D"/>
                </a:solidFill>
              </a:defRPr>
            </a:pPr>
            <a:r>
              <a:t>Aide pour les layouts CSS Bootstrap (grilles, navbar)</a:t>
            </a:r>
          </a:p>
          <a:p>
            <a:pPr>
              <a:spcAft>
                <a:spcPts val="600"/>
              </a:spcAft>
              <a:defRPr sz="1200">
                <a:solidFill>
                  <a:srgbClr val="6C757D"/>
                </a:solidFill>
              </a:defRPr>
            </a:pPr>
            <a:r>
              <a:t>Generation de fragments : logique du formulaire de connexion,</a:t>
            </a:r>
          </a:p>
          <a:p>
            <a:pPr>
              <a:spcAft>
                <a:spcPts val="600"/>
              </a:spcAft>
              <a:defRPr sz="1200">
                <a:solidFill>
                  <a:srgbClr val="6C757D"/>
                </a:solidFill>
              </a:defRPr>
            </a:pPr>
            <a:r>
              <a:t>  structure des cartes de publication, composants de la messagerie</a:t>
            </a:r>
          </a:p>
          <a:p>
            <a:pPr>
              <a:spcAft>
                <a:spcPts val="600"/>
              </a:spcAft>
              <a:defRPr sz="1200">
                <a:solidFill>
                  <a:srgbClr val="6C757D"/>
                </a:solidFill>
              </a:defRPr>
            </a:pPr>
            <a:r>
              <a:t>Aide a la documentation (wireframes, specs fonctionnelles)</a:t>
            </a:r>
          </a:p>
          <a:p>
            <a:pPr>
              <a:spcAft>
                <a:spcPts val="600"/>
              </a:spcAft>
              <a:defRPr sz="1200">
                <a:solidFill>
                  <a:srgbClr val="6C757D"/>
                </a:solidFill>
              </a:defRPr>
            </a:pPr>
            <a:r>
              <a:t>Optimisation des requetes SQL (jointures, index)</a:t>
            </a:r>
          </a:p>
        </p:txBody>
      </p:sp>
      <p:sp>
        <p:nvSpPr>
          <p:cNvPr id="11" name="Rectangle 10"/>
          <p:cNvSpPr/>
          <p:nvPr/>
        </p:nvSpPr>
        <p:spPr>
          <a:xfrm>
            <a:off x="6217920" y="2377440"/>
            <a:ext cx="5303520" cy="228600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468880"/>
            <a:ext cx="5029200" cy="320040"/>
          </a:xfrm>
          <a:prstGeom prst="rect">
            <a:avLst/>
          </a:prstGeom>
          <a:noFill/>
        </p:spPr>
        <p:txBody>
          <a:bodyPr wrap="square">
            <a:spAutoFit/>
          </a:bodyPr>
          <a:lstStyle/>
          <a:p>
            <a:pPr algn="l">
              <a:defRPr sz="1300" b="1">
                <a:solidFill>
                  <a:srgbClr val="0A66C2"/>
                </a:solidFill>
              </a:defRPr>
            </a:pPr>
            <a:r>
              <a:t>Parties du projet influencees par l'IA</a:t>
            </a:r>
          </a:p>
        </p:txBody>
      </p:sp>
      <p:sp>
        <p:nvSpPr>
          <p:cNvPr id="13" name="TextBox 12"/>
          <p:cNvSpPr txBox="1"/>
          <p:nvPr/>
        </p:nvSpPr>
        <p:spPr>
          <a:xfrm>
            <a:off x="6355080" y="2788920"/>
            <a:ext cx="5029200" cy="1783080"/>
          </a:xfrm>
          <a:prstGeom prst="rect">
            <a:avLst/>
          </a:prstGeom>
          <a:noFill/>
        </p:spPr>
        <p:txBody>
          <a:bodyPr wrap="square">
            <a:spAutoFit/>
          </a:bodyPr>
          <a:lstStyle/>
          <a:p>
            <a:pPr>
              <a:spcAft>
                <a:spcPts val="600"/>
              </a:spcAft>
              <a:defRPr sz="1200">
                <a:solidFill>
                  <a:srgbClr val="6C757D"/>
                </a:solidFill>
              </a:defRPr>
            </a:pPr>
            <a:r>
              <a:t>Layout HTML du formulaire de connexion (~30% du code)</a:t>
            </a:r>
          </a:p>
          <a:p>
            <a:pPr>
              <a:spcAft>
                <a:spcPts val="600"/>
              </a:spcAft>
              <a:defRPr sz="1200">
                <a:solidFill>
                  <a:srgbClr val="6C757D"/>
                </a:solidFill>
              </a:defRPr>
            </a:pPr>
            <a:r>
              <a:t>Structure CSS des cartes de publication (~25%)</a:t>
            </a:r>
          </a:p>
          <a:p>
            <a:pPr>
              <a:spcAft>
                <a:spcPts val="600"/>
              </a:spcAft>
              <a:defRPr sz="1200">
                <a:solidFill>
                  <a:srgbClr val="6C757D"/>
                </a:solidFill>
              </a:defRPr>
            </a:pPr>
            <a:r>
              <a:t>Logique AJAX du polling de messagerie (~35%)</a:t>
            </a:r>
          </a:p>
          <a:p>
            <a:pPr>
              <a:spcAft>
                <a:spcPts val="600"/>
              </a:spcAft>
              <a:defRPr sz="1200">
                <a:solidFill>
                  <a:srgbClr val="6C757D"/>
                </a:solidFill>
              </a:defRPr>
            </a:pPr>
            <a:r>
              <a:t>Helpers PHP (fonctions h(), requireConnexion()) (~20%)</a:t>
            </a:r>
          </a:p>
          <a:p>
            <a:pPr>
              <a:spcAft>
                <a:spcPts val="600"/>
              </a:spcAft>
              <a:defRPr sz="1200">
                <a:solidFill>
                  <a:srgbClr val="6C757D"/>
                </a:solidFill>
              </a:defRPr>
            </a:pPr>
            <a:r>
              <a:t>Schema SQL initial (structure des tables) (~30%)</a:t>
            </a:r>
          </a:p>
          <a:p>
            <a:pPr>
              <a:spcAft>
                <a:spcPts val="600"/>
              </a:spcAft>
              <a:defRPr sz="1200">
                <a:solidFill>
                  <a:srgbClr val="6C757D"/>
                </a:solidFill>
              </a:defRPr>
            </a:pPr>
            <a:r>
              <a:t>Wireframes et documentation de conception (~40%)</a:t>
            </a:r>
          </a:p>
          <a:p>
            <a:pPr>
              <a:spcAft>
                <a:spcPts val="600"/>
              </a:spcAft>
              <a:defRPr sz="1200">
                <a:solidFill>
                  <a:srgbClr val="6C757D"/>
                </a:solidFill>
              </a:defRPr>
            </a:pPr>
            <a:r>
              <a:t>Themes saisonniers CSS (~30%)</a:t>
            </a:r>
          </a:p>
          <a:p>
            <a:pPr>
              <a:spcAft>
                <a:spcPts val="600"/>
              </a:spcAft>
              <a:defRPr sz="1200">
                <a:solidFill>
                  <a:srgbClr val="6C757D"/>
                </a:solidFill>
              </a:defRPr>
            </a:pPr>
            <a:r>
              <a:t>Composants Bootstrap de la navbar (~25%)</a:t>
            </a:r>
          </a:p>
        </p:txBody>
      </p:sp>
      <p:sp>
        <p:nvSpPr>
          <p:cNvPr id="14" name="TextBox 13"/>
          <p:cNvSpPr txBox="1"/>
          <p:nvPr/>
        </p:nvSpPr>
        <p:spPr>
          <a:xfrm>
            <a:off x="548640" y="4937760"/>
            <a:ext cx="10972800" cy="731520"/>
          </a:xfrm>
          <a:prstGeom prst="rect">
            <a:avLst/>
          </a:prstGeom>
          <a:noFill/>
        </p:spPr>
        <p:txBody>
          <a:bodyPr wrap="square">
            <a:spAutoFit/>
          </a:bodyPr>
          <a:lstStyle/>
          <a:p>
            <a:pPr algn="l">
              <a:defRPr sz="1300" b="0">
                <a:solidFill>
                  <a:srgbClr val="6C757D"/>
                </a:solidFill>
              </a:defRPr>
            </a:pPr>
            <a:r>
              <a:t>Note : Tout le code genere a ete relu, compris, adapte et valide par l'equipe. L'IA a ete utilisee comme un outil d'assistance et non comme un substitut au travail personnel. La logique metier, l'architecture et les choix techniques sont entierement le fruit de notre reflexion.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7b. Journal d'Assistance par IA — Exemples de code</a:t>
            </a:r>
          </a:p>
        </p:txBody>
      </p:sp>
      <p:sp>
        <p:nvSpPr>
          <p:cNvPr id="5" name="Rectangle 4"/>
          <p:cNvSpPr/>
          <p:nvPr/>
        </p:nvSpPr>
        <p:spPr>
          <a:xfrm>
            <a:off x="457200" y="1371600"/>
            <a:ext cx="5486400" cy="228600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463040"/>
            <a:ext cx="5212080" cy="320040"/>
          </a:xfrm>
          <a:prstGeom prst="rect">
            <a:avLst/>
          </a:prstGeom>
          <a:noFill/>
        </p:spPr>
        <p:txBody>
          <a:bodyPr wrap="square">
            <a:spAutoFit/>
          </a:bodyPr>
          <a:lstStyle/>
          <a:p>
            <a:pPr algn="l">
              <a:defRPr sz="1300" b="1">
                <a:solidFill>
                  <a:srgbClr val="0A66C2"/>
                </a:solidFill>
              </a:defRPr>
            </a:pPr>
            <a:r>
              <a:t>Exemple 1 : Fonction de securite (helpers)</a:t>
            </a:r>
          </a:p>
        </p:txBody>
      </p:sp>
      <p:sp>
        <p:nvSpPr>
          <p:cNvPr id="7" name="TextBox 6"/>
          <p:cNvSpPr txBox="1"/>
          <p:nvPr/>
        </p:nvSpPr>
        <p:spPr>
          <a:xfrm>
            <a:off x="594360" y="1783080"/>
            <a:ext cx="5212080" cy="1783080"/>
          </a:xfrm>
          <a:prstGeom prst="rect">
            <a:avLst/>
          </a:prstGeom>
          <a:noFill/>
        </p:spPr>
        <p:txBody>
          <a:bodyPr wrap="square">
            <a:spAutoFit/>
          </a:bodyPr>
          <a:lstStyle/>
          <a:p>
            <a:pPr>
              <a:spcAft>
                <a:spcPts val="600"/>
              </a:spcAft>
              <a:defRPr sz="1100">
                <a:solidFill>
                  <a:srgbClr val="1A1A2E"/>
                </a:solidFill>
              </a:defRPr>
            </a:pPr>
            <a:r>
              <a:t>Prompt : 'Comment proteger les sorties HTML en PHP ?'</a:t>
            </a:r>
          </a:p>
          <a:p>
            <a:pPr>
              <a:spcAft>
                <a:spcPts val="600"/>
              </a:spcAft>
              <a:defRPr sz="1100">
                <a:solidFill>
                  <a:srgbClr val="1A1A2E"/>
                </a:solidFill>
              </a:defRPr>
            </a:pPr>
          </a:p>
          <a:p>
            <a:pPr>
              <a:spcAft>
                <a:spcPts val="600"/>
              </a:spcAft>
              <a:defRPr sz="1100">
                <a:solidFill>
                  <a:srgbClr val="1A1A2E"/>
                </a:solidFill>
              </a:defRPr>
            </a:pPr>
            <a:r>
              <a:t>function h($str) {</a:t>
            </a:r>
          </a:p>
          <a:p>
            <a:pPr>
              <a:spcAft>
                <a:spcPts val="600"/>
              </a:spcAft>
              <a:defRPr sz="1100">
                <a:solidFill>
                  <a:srgbClr val="1A1A2E"/>
                </a:solidFill>
              </a:defRPr>
            </a:pPr>
            <a:r>
              <a:t>    return htmlspecialchars($str ?? '', ENT_QUOTES, 'UTF-8');</a:t>
            </a:r>
          </a:p>
          <a:p>
            <a:pPr>
              <a:spcAft>
                <a:spcPts val="600"/>
              </a:spcAft>
              <a:defRPr sz="1100">
                <a:solidFill>
                  <a:srgbClr val="1A1A2E"/>
                </a:solidFill>
              </a:defRPr>
            </a:pPr>
            <a:r>
              <a:t>}</a:t>
            </a:r>
          </a:p>
          <a:p>
            <a:pPr>
              <a:spcAft>
                <a:spcPts val="600"/>
              </a:spcAft>
              <a:defRPr sz="1100">
                <a:solidFill>
                  <a:srgbClr val="1A1A2E"/>
                </a:solidFill>
              </a:defRPr>
            </a:pPr>
          </a:p>
          <a:p>
            <a:pPr>
              <a:spcAft>
                <a:spcPts val="600"/>
              </a:spcAft>
              <a:defRPr sz="1100">
                <a:solidFill>
                  <a:srgbClr val="1A1A2E"/>
                </a:solidFill>
              </a:defRPr>
            </a:pPr>
            <a:r>
              <a:t>-&gt; Adapte et integre dans config.php</a:t>
            </a:r>
          </a:p>
          <a:p>
            <a:pPr>
              <a:spcAft>
                <a:spcPts val="600"/>
              </a:spcAft>
              <a:defRPr sz="1100">
                <a:solidFill>
                  <a:srgbClr val="1A1A2E"/>
                </a:solidFill>
              </a:defRPr>
            </a:pPr>
            <a:r>
              <a:t>-&gt; Utilise sur toutes les pages pour prevenir le XSS</a:t>
            </a:r>
          </a:p>
        </p:txBody>
      </p:sp>
      <p:sp>
        <p:nvSpPr>
          <p:cNvPr id="8" name="Rectangle 7"/>
          <p:cNvSpPr/>
          <p:nvPr/>
        </p:nvSpPr>
        <p:spPr>
          <a:xfrm>
            <a:off x="6217920" y="1371600"/>
            <a:ext cx="5486400" cy="228600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463040"/>
            <a:ext cx="5212080" cy="320040"/>
          </a:xfrm>
          <a:prstGeom prst="rect">
            <a:avLst/>
          </a:prstGeom>
          <a:noFill/>
        </p:spPr>
        <p:txBody>
          <a:bodyPr wrap="square">
            <a:spAutoFit/>
          </a:bodyPr>
          <a:lstStyle/>
          <a:p>
            <a:pPr algn="l">
              <a:defRPr sz="1300" b="1">
                <a:solidFill>
                  <a:srgbClr val="0A66C2"/>
                </a:solidFill>
              </a:defRPr>
            </a:pPr>
            <a:r>
              <a:t>Exemple 2 : Polling messagerie (AJAX)</a:t>
            </a:r>
          </a:p>
        </p:txBody>
      </p:sp>
      <p:sp>
        <p:nvSpPr>
          <p:cNvPr id="10" name="TextBox 9"/>
          <p:cNvSpPr txBox="1"/>
          <p:nvPr/>
        </p:nvSpPr>
        <p:spPr>
          <a:xfrm>
            <a:off x="6355080" y="1783080"/>
            <a:ext cx="5212080" cy="1783080"/>
          </a:xfrm>
          <a:prstGeom prst="rect">
            <a:avLst/>
          </a:prstGeom>
          <a:noFill/>
        </p:spPr>
        <p:txBody>
          <a:bodyPr wrap="square">
            <a:spAutoFit/>
          </a:bodyPr>
          <a:lstStyle/>
          <a:p>
            <a:pPr>
              <a:spcAft>
                <a:spcPts val="600"/>
              </a:spcAft>
              <a:defRPr sz="1100">
                <a:solidFill>
                  <a:srgbClr val="1A1A2E"/>
                </a:solidFill>
              </a:defRPr>
            </a:pPr>
            <a:r>
              <a:t>Prompt : 'Comment faire du polling AJAX pour un chat ?'</a:t>
            </a:r>
          </a:p>
          <a:p>
            <a:pPr>
              <a:spcAft>
                <a:spcPts val="600"/>
              </a:spcAft>
              <a:defRPr sz="1100">
                <a:solidFill>
                  <a:srgbClr val="1A1A2E"/>
                </a:solidFill>
              </a:defRPr>
            </a:pPr>
          </a:p>
          <a:p>
            <a:pPr>
              <a:spcAft>
                <a:spcPts val="600"/>
              </a:spcAft>
              <a:defRPr sz="1100">
                <a:solidFill>
                  <a:srgbClr val="1A1A2E"/>
                </a:solidFill>
              </a:defRPr>
            </a:pPr>
            <a:r>
              <a:t>setInterval(async () =&gt; {</a:t>
            </a:r>
          </a:p>
          <a:p>
            <a:pPr>
              <a:spcAft>
                <a:spcPts val="600"/>
              </a:spcAft>
              <a:defRPr sz="1100">
                <a:solidFill>
                  <a:srgbClr val="1A1A2E"/>
                </a:solidFill>
              </a:defRPr>
            </a:pPr>
            <a:r>
              <a:t>  const r = await fetch(`api/messages.php?action=poll</a:t>
            </a:r>
          </a:p>
          <a:p>
            <a:pPr>
              <a:spcAft>
                <a:spcPts val="600"/>
              </a:spcAft>
              <a:defRPr sz="1100">
                <a:solidFill>
                  <a:srgbClr val="1A1A2E"/>
                </a:solidFill>
              </a:defRPr>
            </a:pPr>
            <a:r>
              <a:t>    &amp;conv=${convId}&amp;last=${lastId}`);</a:t>
            </a:r>
          </a:p>
          <a:p>
            <a:pPr>
              <a:spcAft>
                <a:spcPts val="600"/>
              </a:spcAft>
              <a:defRPr sz="1100">
                <a:solidFill>
                  <a:srgbClr val="1A1A2E"/>
                </a:solidFill>
              </a:defRPr>
            </a:pPr>
            <a:r>
              <a:t>  const msgs = await r.json();</a:t>
            </a:r>
          </a:p>
          <a:p>
            <a:pPr>
              <a:spcAft>
                <a:spcPts val="600"/>
              </a:spcAft>
              <a:defRPr sz="1100">
                <a:solidFill>
                  <a:srgbClr val="1A1A2E"/>
                </a:solidFill>
              </a:defRPr>
            </a:pPr>
            <a:r>
              <a:t>  msgs.forEach(m =&gt; appendMessage(m));</a:t>
            </a:r>
          </a:p>
          <a:p>
            <a:pPr>
              <a:spcAft>
                <a:spcPts val="600"/>
              </a:spcAft>
              <a:defRPr sz="1100">
                <a:solidFill>
                  <a:srgbClr val="1A1A2E"/>
                </a:solidFill>
              </a:defRPr>
            </a:pPr>
            <a:r>
              <a:t>}, 3000);</a:t>
            </a:r>
          </a:p>
          <a:p>
            <a:pPr>
              <a:spcAft>
                <a:spcPts val="600"/>
              </a:spcAft>
              <a:defRPr sz="1100">
                <a:solidFill>
                  <a:srgbClr val="1A1A2E"/>
                </a:solidFill>
              </a:defRPr>
            </a:pPr>
          </a:p>
          <a:p>
            <a:pPr>
              <a:spcAft>
                <a:spcPts val="600"/>
              </a:spcAft>
              <a:defRPr sz="1100">
                <a:solidFill>
                  <a:srgbClr val="1A1A2E"/>
                </a:solidFill>
              </a:defRPr>
            </a:pPr>
            <a:r>
              <a:t>-&gt; Structure suggeree, adaptee a notre architecture</a:t>
            </a:r>
          </a:p>
        </p:txBody>
      </p:sp>
      <p:sp>
        <p:nvSpPr>
          <p:cNvPr id="11" name="Rectangle 10"/>
          <p:cNvSpPr/>
          <p:nvPr/>
        </p:nvSpPr>
        <p:spPr>
          <a:xfrm>
            <a:off x="457200" y="3931920"/>
            <a:ext cx="11247120" cy="201168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023360"/>
            <a:ext cx="10972800" cy="320040"/>
          </a:xfrm>
          <a:prstGeom prst="rect">
            <a:avLst/>
          </a:prstGeom>
          <a:noFill/>
        </p:spPr>
        <p:txBody>
          <a:bodyPr wrap="square">
            <a:spAutoFit/>
          </a:bodyPr>
          <a:lstStyle/>
          <a:p>
            <a:pPr algn="l">
              <a:defRPr sz="1300" b="1">
                <a:solidFill>
                  <a:srgbClr val="0A66C2"/>
                </a:solidFill>
              </a:defRPr>
            </a:pPr>
            <a:r>
              <a:t>Exemple 3 : Requete SQL preparee (publications visibles)</a:t>
            </a:r>
          </a:p>
        </p:txBody>
      </p:sp>
      <p:sp>
        <p:nvSpPr>
          <p:cNvPr id="13" name="TextBox 12"/>
          <p:cNvSpPr txBox="1"/>
          <p:nvPr/>
        </p:nvSpPr>
        <p:spPr>
          <a:xfrm>
            <a:off x="594360" y="4343400"/>
            <a:ext cx="10972800" cy="1508760"/>
          </a:xfrm>
          <a:prstGeom prst="rect">
            <a:avLst/>
          </a:prstGeom>
          <a:noFill/>
        </p:spPr>
        <p:txBody>
          <a:bodyPr wrap="square">
            <a:spAutoFit/>
          </a:bodyPr>
          <a:lstStyle/>
          <a:p>
            <a:pPr>
              <a:spcAft>
                <a:spcPts val="600"/>
              </a:spcAft>
              <a:defRPr sz="1100">
                <a:solidFill>
                  <a:srgbClr val="1A1A2E"/>
                </a:solidFill>
              </a:defRPr>
            </a:pPr>
            <a:r>
              <a:t>Prompt : 'Comment filtrer les publications par visibilite avec les amis en SQL ?'</a:t>
            </a:r>
          </a:p>
          <a:p>
            <a:pPr>
              <a:spcAft>
                <a:spcPts val="600"/>
              </a:spcAft>
              <a:defRPr sz="1100">
                <a:solidFill>
                  <a:srgbClr val="1A1A2E"/>
                </a:solidFill>
              </a:defRPr>
            </a:pPr>
          </a:p>
          <a:p>
            <a:pPr>
              <a:spcAft>
                <a:spcPts val="600"/>
              </a:spcAft>
              <a:defRPr sz="1100">
                <a:solidFill>
                  <a:srgbClr val="1A1A2E"/>
                </a:solidFill>
              </a:defRPr>
            </a:pPr>
            <a:r>
              <a:t>SELECT p.*, u.pseudo, u.prenom, u.nom, u.photo FROM publications p</a:t>
            </a:r>
          </a:p>
          <a:p>
            <a:pPr>
              <a:spcAft>
                <a:spcPts val="600"/>
              </a:spcAft>
              <a:defRPr sz="1100">
                <a:solidFill>
                  <a:srgbClr val="1A1A2E"/>
                </a:solidFill>
              </a:defRPr>
            </a:pPr>
            <a:r>
              <a:t>JOIN utilisateurs u ON p.utilisateur_id = u.id</a:t>
            </a:r>
          </a:p>
          <a:p>
            <a:pPr>
              <a:spcAft>
                <a:spcPts val="600"/>
              </a:spcAft>
              <a:defRPr sz="1100">
                <a:solidFill>
                  <a:srgbClr val="1A1A2E"/>
                </a:solidFill>
              </a:defRPr>
            </a:pPr>
            <a:r>
              <a:t>WHERE p.visibilite = 'public' OR p.utilisateur_id = :uid</a:t>
            </a:r>
          </a:p>
          <a:p>
            <a:pPr>
              <a:spcAft>
                <a:spcPts val="600"/>
              </a:spcAft>
              <a:defRPr sz="1100">
                <a:solidFill>
                  <a:srgbClr val="1A1A2E"/>
                </a:solidFill>
              </a:defRPr>
            </a:pPr>
            <a:r>
              <a:t>OR (p.visibilite = 'amis' AND p.utilisateur_id IN</a:t>
            </a:r>
          </a:p>
          <a:p>
            <a:pPr>
              <a:spcAft>
                <a:spcPts val="600"/>
              </a:spcAft>
              <a:defRPr sz="1100">
                <a:solidFill>
                  <a:srgbClr val="1A1A2E"/>
                </a:solidFill>
              </a:defRPr>
            </a:pPr>
            <a:r>
              <a:t>  (SELECT CASE WHEN demandeur_id = :uid THEN destinataire_id ELSE demandeur_id END</a:t>
            </a:r>
          </a:p>
          <a:p>
            <a:pPr>
              <a:spcAft>
                <a:spcPts val="600"/>
              </a:spcAft>
              <a:defRPr sz="1100">
                <a:solidFill>
                  <a:srgbClr val="1A1A2E"/>
                </a:solidFill>
              </a:defRPr>
            </a:pPr>
            <a:r>
              <a:t>   FROM connexions WHERE statut = 'accepte' AND (demandeur_id = :uid OR destinataire_id = :uid)))</a:t>
            </a:r>
          </a:p>
          <a:p>
            <a:pPr>
              <a:spcAft>
                <a:spcPts val="600"/>
              </a:spcAft>
              <a:defRPr sz="1100">
                <a:solidFill>
                  <a:srgbClr val="1A1A2E"/>
                </a:solidFill>
              </a:defRPr>
            </a:pPr>
          </a:p>
          <a:p>
            <a:pPr>
              <a:spcAft>
                <a:spcPts val="600"/>
              </a:spcAft>
              <a:defRPr sz="1100">
                <a:solidFill>
                  <a:srgbClr val="1A1A2E"/>
                </a:solidFill>
              </a:defRPr>
            </a:pPr>
            <a:r>
              <a:t>-&gt; Requete construite ensemble puis optimisee manuellement avec des index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8. Versioning Git</a:t>
            </a:r>
          </a:p>
        </p:txBody>
      </p:sp>
      <p:sp>
        <p:nvSpPr>
          <p:cNvPr id="5" name="TextBox 4"/>
          <p:cNvSpPr txBox="1"/>
          <p:nvPr/>
        </p:nvSpPr>
        <p:spPr>
          <a:xfrm>
            <a:off x="548640" y="1371600"/>
            <a:ext cx="10972800" cy="320040"/>
          </a:xfrm>
          <a:prstGeom prst="rect">
            <a:avLst/>
          </a:prstGeom>
          <a:noFill/>
        </p:spPr>
        <p:txBody>
          <a:bodyPr wrap="square">
            <a:spAutoFit/>
          </a:bodyPr>
          <a:lstStyle/>
          <a:p>
            <a:pPr algn="l">
              <a:defRPr sz="1600" b="1">
                <a:solidFill>
                  <a:srgbClr val="0A66C2"/>
                </a:solidFill>
              </a:defRPr>
            </a:pPr>
            <a:r>
              <a:t>Depot GitHub :  https://github.com/EmmanuelZerb/projet-web-2026</a:t>
            </a:r>
          </a:p>
        </p:txBody>
      </p:sp>
      <p:sp>
        <p:nvSpPr>
          <p:cNvPr id="6" name="TextBox 5"/>
          <p:cNvSpPr txBox="1"/>
          <p:nvPr/>
        </p:nvSpPr>
        <p:spPr>
          <a:xfrm>
            <a:off x="548640" y="1783080"/>
            <a:ext cx="10972800" cy="320040"/>
          </a:xfrm>
          <a:prstGeom prst="rect">
            <a:avLst/>
          </a:prstGeom>
          <a:noFill/>
        </p:spPr>
        <p:txBody>
          <a:bodyPr wrap="square">
            <a:spAutoFit/>
          </a:bodyPr>
          <a:lstStyle/>
          <a:p>
            <a:pPr algn="l">
              <a:defRPr sz="1400" b="0">
                <a:solidFill>
                  <a:srgbClr val="6C757D"/>
                </a:solidFill>
              </a:defRPr>
            </a:pPr>
            <a:r>
              <a:t>Branche principale : main  |  17 commits  |  Langages : PHP 75.9%, CSS 12.8%, JS 11.3%</a:t>
            </a:r>
          </a:p>
        </p:txBody>
      </p:sp>
      <p:sp>
        <p:nvSpPr>
          <p:cNvPr id="7" name="Rectangle 6"/>
          <p:cNvSpPr/>
          <p:nvPr/>
        </p:nvSpPr>
        <p:spPr>
          <a:xfrm>
            <a:off x="457200" y="2240280"/>
            <a:ext cx="11247120" cy="3657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286000"/>
            <a:ext cx="10972800" cy="320040"/>
          </a:xfrm>
          <a:prstGeom prst="rect">
            <a:avLst/>
          </a:prstGeom>
          <a:noFill/>
        </p:spPr>
        <p:txBody>
          <a:bodyPr wrap="none">
            <a:spAutoFit/>
          </a:bodyPr>
          <a:lstStyle/>
          <a:p>
            <a:r>
              <a:rPr sz="1100" b="1">
                <a:solidFill>
                  <a:srgbClr val="FFFFFF"/>
                </a:solidFill>
              </a:rPr>
              <a:t>Hash          </a:t>
            </a:r>
            <a:r>
              <a:rPr sz="1100" b="1">
                <a:solidFill>
                  <a:srgbClr val="FFFFFF"/>
                </a:solidFill>
              </a:rPr>
              <a:t>Date          </a:t>
            </a:r>
            <a:r>
              <a:rPr sz="1100" b="1">
                <a:solidFill>
                  <a:srgbClr val="FFFFFF"/>
                </a:solidFill>
              </a:rPr>
              <a:t>Message          </a:t>
            </a:r>
          </a:p>
        </p:txBody>
      </p:sp>
      <p:sp>
        <p:nvSpPr>
          <p:cNvPr id="9" name="Rectangle 8"/>
          <p:cNvSpPr/>
          <p:nvPr/>
        </p:nvSpPr>
        <p:spPr>
          <a:xfrm>
            <a:off x="457200" y="2651760"/>
            <a:ext cx="11247120" cy="3200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670048"/>
            <a:ext cx="1097280" cy="274320"/>
          </a:xfrm>
          <a:prstGeom prst="rect">
            <a:avLst/>
          </a:prstGeom>
          <a:noFill/>
        </p:spPr>
        <p:txBody>
          <a:bodyPr wrap="square">
            <a:spAutoFit/>
          </a:bodyPr>
          <a:lstStyle/>
          <a:p>
            <a:pPr algn="l">
              <a:defRPr sz="1000" b="1">
                <a:solidFill>
                  <a:srgbClr val="0A66C2"/>
                </a:solidFill>
              </a:defRPr>
            </a:pPr>
            <a:r>
              <a:t>bd0e2f1</a:t>
            </a:r>
          </a:p>
        </p:txBody>
      </p:sp>
      <p:sp>
        <p:nvSpPr>
          <p:cNvPr id="11" name="TextBox 10"/>
          <p:cNvSpPr txBox="1"/>
          <p:nvPr/>
        </p:nvSpPr>
        <p:spPr>
          <a:xfrm>
            <a:off x="1645920" y="2670048"/>
            <a:ext cx="731520" cy="274320"/>
          </a:xfrm>
          <a:prstGeom prst="rect">
            <a:avLst/>
          </a:prstGeom>
          <a:noFill/>
        </p:spPr>
        <p:txBody>
          <a:bodyPr wrap="square">
            <a:spAutoFit/>
          </a:bodyPr>
          <a:lstStyle/>
          <a:p>
            <a:pPr algn="l">
              <a:defRPr sz="1000" b="0">
                <a:solidFill>
                  <a:srgbClr val="6C757D"/>
                </a:solidFill>
              </a:defRPr>
            </a:pPr>
            <a:r>
              <a:t>09/03</a:t>
            </a:r>
          </a:p>
        </p:txBody>
      </p:sp>
      <p:sp>
        <p:nvSpPr>
          <p:cNvPr id="12" name="TextBox 11"/>
          <p:cNvSpPr txBox="1"/>
          <p:nvPr/>
        </p:nvSpPr>
        <p:spPr>
          <a:xfrm>
            <a:off x="2560320" y="2670048"/>
            <a:ext cx="8961120" cy="274320"/>
          </a:xfrm>
          <a:prstGeom prst="rect">
            <a:avLst/>
          </a:prstGeom>
          <a:noFill/>
        </p:spPr>
        <p:txBody>
          <a:bodyPr wrap="square">
            <a:spAutoFit/>
          </a:bodyPr>
          <a:lstStyle/>
          <a:p>
            <a:pPr algn="l">
              <a:defRPr sz="1000" b="0">
                <a:solidFill>
                  <a:srgbClr val="1A1A2E"/>
                </a:solidFill>
              </a:defRPr>
            </a:pPr>
            <a:r>
              <a:t>Stockage persistant des fichiers en base de donnees (LONGBLOB)</a:t>
            </a:r>
          </a:p>
        </p:txBody>
      </p:sp>
      <p:sp>
        <p:nvSpPr>
          <p:cNvPr id="13" name="Rectangle 12"/>
          <p:cNvSpPr/>
          <p:nvPr/>
        </p:nvSpPr>
        <p:spPr>
          <a:xfrm>
            <a:off x="457200" y="2999232"/>
            <a:ext cx="112471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17520"/>
            <a:ext cx="1097280" cy="274320"/>
          </a:xfrm>
          <a:prstGeom prst="rect">
            <a:avLst/>
          </a:prstGeom>
          <a:noFill/>
        </p:spPr>
        <p:txBody>
          <a:bodyPr wrap="square">
            <a:spAutoFit/>
          </a:bodyPr>
          <a:lstStyle/>
          <a:p>
            <a:pPr algn="l">
              <a:defRPr sz="1000" b="1">
                <a:solidFill>
                  <a:srgbClr val="0A66C2"/>
                </a:solidFill>
              </a:defRPr>
            </a:pPr>
            <a:r>
              <a:t>373e3a6</a:t>
            </a:r>
          </a:p>
        </p:txBody>
      </p:sp>
      <p:sp>
        <p:nvSpPr>
          <p:cNvPr id="15" name="TextBox 14"/>
          <p:cNvSpPr txBox="1"/>
          <p:nvPr/>
        </p:nvSpPr>
        <p:spPr>
          <a:xfrm>
            <a:off x="1645920" y="3017520"/>
            <a:ext cx="731520" cy="274320"/>
          </a:xfrm>
          <a:prstGeom prst="rect">
            <a:avLst/>
          </a:prstGeom>
          <a:noFill/>
        </p:spPr>
        <p:txBody>
          <a:bodyPr wrap="square">
            <a:spAutoFit/>
          </a:bodyPr>
          <a:lstStyle/>
          <a:p>
            <a:pPr algn="l">
              <a:defRPr sz="1000" b="0">
                <a:solidFill>
                  <a:srgbClr val="6C757D"/>
                </a:solidFill>
              </a:defRPr>
            </a:pPr>
            <a:r>
              <a:t>09/03</a:t>
            </a:r>
          </a:p>
        </p:txBody>
      </p:sp>
      <p:sp>
        <p:nvSpPr>
          <p:cNvPr id="16" name="TextBox 15"/>
          <p:cNvSpPr txBox="1"/>
          <p:nvPr/>
        </p:nvSpPr>
        <p:spPr>
          <a:xfrm>
            <a:off x="2560320" y="3017520"/>
            <a:ext cx="8961120" cy="274320"/>
          </a:xfrm>
          <a:prstGeom prst="rect">
            <a:avLst/>
          </a:prstGeom>
          <a:noFill/>
        </p:spPr>
        <p:txBody>
          <a:bodyPr wrap="square">
            <a:spAutoFit/>
          </a:bodyPr>
          <a:lstStyle/>
          <a:p>
            <a:pPr algn="l">
              <a:defRPr sz="1000" b="0">
                <a:solidFill>
                  <a:srgbClr val="1A1A2E"/>
                </a:solidFill>
              </a:defRPr>
            </a:pPr>
            <a:r>
              <a:t>Remplace prompt() natif par un modal Bootstrap pour le partage</a:t>
            </a:r>
          </a:p>
        </p:txBody>
      </p:sp>
      <p:sp>
        <p:nvSpPr>
          <p:cNvPr id="17" name="Rectangle 16"/>
          <p:cNvSpPr/>
          <p:nvPr/>
        </p:nvSpPr>
        <p:spPr>
          <a:xfrm>
            <a:off x="457200" y="3346704"/>
            <a:ext cx="11247120" cy="3200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364992"/>
            <a:ext cx="1097280" cy="274320"/>
          </a:xfrm>
          <a:prstGeom prst="rect">
            <a:avLst/>
          </a:prstGeom>
          <a:noFill/>
        </p:spPr>
        <p:txBody>
          <a:bodyPr wrap="square">
            <a:spAutoFit/>
          </a:bodyPr>
          <a:lstStyle/>
          <a:p>
            <a:pPr algn="l">
              <a:defRPr sz="1000" b="1">
                <a:solidFill>
                  <a:srgbClr val="0A66C2"/>
                </a:solidFill>
              </a:defRPr>
            </a:pPr>
            <a:r>
              <a:t>2847dfb</a:t>
            </a:r>
          </a:p>
        </p:txBody>
      </p:sp>
      <p:sp>
        <p:nvSpPr>
          <p:cNvPr id="19" name="TextBox 18"/>
          <p:cNvSpPr txBox="1"/>
          <p:nvPr/>
        </p:nvSpPr>
        <p:spPr>
          <a:xfrm>
            <a:off x="1645920" y="3364992"/>
            <a:ext cx="731520" cy="274320"/>
          </a:xfrm>
          <a:prstGeom prst="rect">
            <a:avLst/>
          </a:prstGeom>
          <a:noFill/>
        </p:spPr>
        <p:txBody>
          <a:bodyPr wrap="square">
            <a:spAutoFit/>
          </a:bodyPr>
          <a:lstStyle/>
          <a:p>
            <a:pPr algn="l">
              <a:defRPr sz="1000" b="0">
                <a:solidFill>
                  <a:srgbClr val="6C757D"/>
                </a:solidFill>
              </a:defRPr>
            </a:pPr>
            <a:r>
              <a:t>09/03</a:t>
            </a:r>
          </a:p>
        </p:txBody>
      </p:sp>
      <p:sp>
        <p:nvSpPr>
          <p:cNvPr id="20" name="TextBox 19"/>
          <p:cNvSpPr txBox="1"/>
          <p:nvPr/>
        </p:nvSpPr>
        <p:spPr>
          <a:xfrm>
            <a:off x="2560320" y="3364992"/>
            <a:ext cx="8961120" cy="274320"/>
          </a:xfrm>
          <a:prstGeom prst="rect">
            <a:avLst/>
          </a:prstGeom>
          <a:noFill/>
        </p:spPr>
        <p:txBody>
          <a:bodyPr wrap="square">
            <a:spAutoFit/>
          </a:bodyPr>
          <a:lstStyle/>
          <a:p>
            <a:pPr algn="l">
              <a:defRPr sz="1000" b="0">
                <a:solidFill>
                  <a:srgbClr val="1A1A2E"/>
                </a:solidFill>
              </a:defRPr>
            </a:pPr>
            <a:r>
              <a:t>Fix complet: fallback images, CSS opacity, overflow, cache</a:t>
            </a:r>
          </a:p>
        </p:txBody>
      </p:sp>
      <p:sp>
        <p:nvSpPr>
          <p:cNvPr id="21" name="Rectangle 20"/>
          <p:cNvSpPr/>
          <p:nvPr/>
        </p:nvSpPr>
        <p:spPr>
          <a:xfrm>
            <a:off x="457200" y="3694176"/>
            <a:ext cx="112471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712464"/>
            <a:ext cx="1097280" cy="274320"/>
          </a:xfrm>
          <a:prstGeom prst="rect">
            <a:avLst/>
          </a:prstGeom>
          <a:noFill/>
        </p:spPr>
        <p:txBody>
          <a:bodyPr wrap="square">
            <a:spAutoFit/>
          </a:bodyPr>
          <a:lstStyle/>
          <a:p>
            <a:pPr algn="l">
              <a:defRPr sz="1000" b="1">
                <a:solidFill>
                  <a:srgbClr val="0A66C2"/>
                </a:solidFill>
              </a:defRPr>
            </a:pPr>
            <a:r>
              <a:t>e10021c</a:t>
            </a:r>
          </a:p>
        </p:txBody>
      </p:sp>
      <p:sp>
        <p:nvSpPr>
          <p:cNvPr id="23" name="TextBox 22"/>
          <p:cNvSpPr txBox="1"/>
          <p:nvPr/>
        </p:nvSpPr>
        <p:spPr>
          <a:xfrm>
            <a:off x="1645920" y="3712464"/>
            <a:ext cx="731520" cy="274320"/>
          </a:xfrm>
          <a:prstGeom prst="rect">
            <a:avLst/>
          </a:prstGeom>
          <a:noFill/>
        </p:spPr>
        <p:txBody>
          <a:bodyPr wrap="square">
            <a:spAutoFit/>
          </a:bodyPr>
          <a:lstStyle/>
          <a:p>
            <a:pPr algn="l">
              <a:defRPr sz="1000" b="0">
                <a:solidFill>
                  <a:srgbClr val="6C757D"/>
                </a:solidFill>
              </a:defRPr>
            </a:pPr>
            <a:r>
              <a:t>09/03</a:t>
            </a:r>
          </a:p>
        </p:txBody>
      </p:sp>
      <p:sp>
        <p:nvSpPr>
          <p:cNvPr id="24" name="TextBox 23"/>
          <p:cNvSpPr txBox="1"/>
          <p:nvPr/>
        </p:nvSpPr>
        <p:spPr>
          <a:xfrm>
            <a:off x="2560320" y="3712464"/>
            <a:ext cx="8961120" cy="274320"/>
          </a:xfrm>
          <a:prstGeom prst="rect">
            <a:avLst/>
          </a:prstGeom>
          <a:noFill/>
        </p:spPr>
        <p:txBody>
          <a:bodyPr wrap="square">
            <a:spAutoFit/>
          </a:bodyPr>
          <a:lstStyle/>
          <a:p>
            <a:pPr algn="l">
              <a:defRPr sz="1000" b="0">
                <a:solidFill>
                  <a:srgbClr val="1A1A2E"/>
                </a:solidFill>
              </a:defRPr>
            </a:pPr>
            <a:r>
              <a:t>Adaptation mobile app: bottom tab bar, safe areas iPhone</a:t>
            </a:r>
          </a:p>
        </p:txBody>
      </p:sp>
      <p:sp>
        <p:nvSpPr>
          <p:cNvPr id="25" name="Rectangle 24"/>
          <p:cNvSpPr/>
          <p:nvPr/>
        </p:nvSpPr>
        <p:spPr>
          <a:xfrm>
            <a:off x="457200" y="4041648"/>
            <a:ext cx="11247120" cy="3200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059936"/>
            <a:ext cx="1097280" cy="274320"/>
          </a:xfrm>
          <a:prstGeom prst="rect">
            <a:avLst/>
          </a:prstGeom>
          <a:noFill/>
        </p:spPr>
        <p:txBody>
          <a:bodyPr wrap="square">
            <a:spAutoFit/>
          </a:bodyPr>
          <a:lstStyle/>
          <a:p>
            <a:pPr algn="l">
              <a:defRPr sz="1000" b="1">
                <a:solidFill>
                  <a:srgbClr val="0A66C2"/>
                </a:solidFill>
              </a:defRPr>
            </a:pPr>
            <a:r>
              <a:t>0735690</a:t>
            </a:r>
          </a:p>
        </p:txBody>
      </p:sp>
      <p:sp>
        <p:nvSpPr>
          <p:cNvPr id="27" name="TextBox 26"/>
          <p:cNvSpPr txBox="1"/>
          <p:nvPr/>
        </p:nvSpPr>
        <p:spPr>
          <a:xfrm>
            <a:off x="1645920" y="4059936"/>
            <a:ext cx="731520" cy="274320"/>
          </a:xfrm>
          <a:prstGeom prst="rect">
            <a:avLst/>
          </a:prstGeom>
          <a:noFill/>
        </p:spPr>
        <p:txBody>
          <a:bodyPr wrap="square">
            <a:spAutoFit/>
          </a:bodyPr>
          <a:lstStyle/>
          <a:p>
            <a:pPr algn="l">
              <a:defRPr sz="1000" b="0">
                <a:solidFill>
                  <a:srgbClr val="6C757D"/>
                </a:solidFill>
              </a:defRPr>
            </a:pPr>
            <a:r>
              <a:t>09/03</a:t>
            </a:r>
          </a:p>
        </p:txBody>
      </p:sp>
      <p:sp>
        <p:nvSpPr>
          <p:cNvPr id="28" name="TextBox 27"/>
          <p:cNvSpPr txBox="1"/>
          <p:nvPr/>
        </p:nvSpPr>
        <p:spPr>
          <a:xfrm>
            <a:off x="2560320" y="4059936"/>
            <a:ext cx="8961120" cy="274320"/>
          </a:xfrm>
          <a:prstGeom prst="rect">
            <a:avLst/>
          </a:prstGeom>
          <a:noFill/>
        </p:spPr>
        <p:txBody>
          <a:bodyPr wrap="square">
            <a:spAutoFit/>
          </a:bodyPr>
          <a:lstStyle/>
          <a:p>
            <a:pPr algn="l">
              <a:defRPr sz="1000" b="0">
                <a:solidFill>
                  <a:srgbClr val="1A1A2E"/>
                </a:solidFill>
              </a:defRPr>
            </a:pPr>
            <a:r>
              <a:t>Fix: lire MYSQLHOST/MYSQLPORT en fallback si MYSQL_URL absent</a:t>
            </a:r>
          </a:p>
        </p:txBody>
      </p:sp>
      <p:sp>
        <p:nvSpPr>
          <p:cNvPr id="29" name="Rectangle 28"/>
          <p:cNvSpPr/>
          <p:nvPr/>
        </p:nvSpPr>
        <p:spPr>
          <a:xfrm>
            <a:off x="457200" y="4389120"/>
            <a:ext cx="112471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407408"/>
            <a:ext cx="1097280" cy="274320"/>
          </a:xfrm>
          <a:prstGeom prst="rect">
            <a:avLst/>
          </a:prstGeom>
          <a:noFill/>
        </p:spPr>
        <p:txBody>
          <a:bodyPr wrap="square">
            <a:spAutoFit/>
          </a:bodyPr>
          <a:lstStyle/>
          <a:p>
            <a:pPr algn="l">
              <a:defRPr sz="1000" b="1">
                <a:solidFill>
                  <a:srgbClr val="0A66C2"/>
                </a:solidFill>
              </a:defRPr>
            </a:pPr>
            <a:r>
              <a:t>294d36e</a:t>
            </a:r>
          </a:p>
        </p:txBody>
      </p:sp>
      <p:sp>
        <p:nvSpPr>
          <p:cNvPr id="31" name="TextBox 30"/>
          <p:cNvSpPr txBox="1"/>
          <p:nvPr/>
        </p:nvSpPr>
        <p:spPr>
          <a:xfrm>
            <a:off x="1645920" y="4407408"/>
            <a:ext cx="731520" cy="274320"/>
          </a:xfrm>
          <a:prstGeom prst="rect">
            <a:avLst/>
          </a:prstGeom>
          <a:noFill/>
        </p:spPr>
        <p:txBody>
          <a:bodyPr wrap="square">
            <a:spAutoFit/>
          </a:bodyPr>
          <a:lstStyle/>
          <a:p>
            <a:pPr algn="l">
              <a:defRPr sz="1000" b="0">
                <a:solidFill>
                  <a:srgbClr val="6C757D"/>
                </a:solidFill>
              </a:defRPr>
            </a:pPr>
            <a:r>
              <a:t>09/03</a:t>
            </a:r>
          </a:p>
        </p:txBody>
      </p:sp>
      <p:sp>
        <p:nvSpPr>
          <p:cNvPr id="32" name="TextBox 31"/>
          <p:cNvSpPr txBox="1"/>
          <p:nvPr/>
        </p:nvSpPr>
        <p:spPr>
          <a:xfrm>
            <a:off x="2560320" y="4407408"/>
            <a:ext cx="8961120" cy="274320"/>
          </a:xfrm>
          <a:prstGeom prst="rect">
            <a:avLst/>
          </a:prstGeom>
          <a:noFill/>
        </p:spPr>
        <p:txBody>
          <a:bodyPr wrap="square">
            <a:spAutoFit/>
          </a:bodyPr>
          <a:lstStyle/>
          <a:p>
            <a:pPr algn="l">
              <a:defRPr sz="1000" b="0">
                <a:solidFill>
                  <a:srgbClr val="1A1A2E"/>
                </a:solidFill>
              </a:defRPr>
            </a:pPr>
            <a:r>
              <a:t>Fix: parse MYSQL_URL pour connexion Railway</a:t>
            </a:r>
          </a:p>
        </p:txBody>
      </p:sp>
      <p:sp>
        <p:nvSpPr>
          <p:cNvPr id="33" name="Rectangle 32"/>
          <p:cNvSpPr/>
          <p:nvPr/>
        </p:nvSpPr>
        <p:spPr>
          <a:xfrm>
            <a:off x="457200" y="4736592"/>
            <a:ext cx="11247120" cy="3200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754880"/>
            <a:ext cx="1097280" cy="274320"/>
          </a:xfrm>
          <a:prstGeom prst="rect">
            <a:avLst/>
          </a:prstGeom>
          <a:noFill/>
        </p:spPr>
        <p:txBody>
          <a:bodyPr wrap="square">
            <a:spAutoFit/>
          </a:bodyPr>
          <a:lstStyle/>
          <a:p>
            <a:pPr algn="l">
              <a:defRPr sz="1000" b="1">
                <a:solidFill>
                  <a:srgbClr val="0A66C2"/>
                </a:solidFill>
              </a:defRPr>
            </a:pPr>
            <a:r>
              <a:t>f8c9642</a:t>
            </a:r>
          </a:p>
        </p:txBody>
      </p:sp>
      <p:sp>
        <p:nvSpPr>
          <p:cNvPr id="35" name="TextBox 34"/>
          <p:cNvSpPr txBox="1"/>
          <p:nvPr/>
        </p:nvSpPr>
        <p:spPr>
          <a:xfrm>
            <a:off x="1645920" y="4754880"/>
            <a:ext cx="731520" cy="274320"/>
          </a:xfrm>
          <a:prstGeom prst="rect">
            <a:avLst/>
          </a:prstGeom>
          <a:noFill/>
        </p:spPr>
        <p:txBody>
          <a:bodyPr wrap="square">
            <a:spAutoFit/>
          </a:bodyPr>
          <a:lstStyle/>
          <a:p>
            <a:pPr algn="l">
              <a:defRPr sz="1000" b="0">
                <a:solidFill>
                  <a:srgbClr val="6C757D"/>
                </a:solidFill>
              </a:defRPr>
            </a:pPr>
            <a:r>
              <a:t>06/03</a:t>
            </a:r>
          </a:p>
        </p:txBody>
      </p:sp>
      <p:sp>
        <p:nvSpPr>
          <p:cNvPr id="36" name="TextBox 35"/>
          <p:cNvSpPr txBox="1"/>
          <p:nvPr/>
        </p:nvSpPr>
        <p:spPr>
          <a:xfrm>
            <a:off x="2560320" y="4754880"/>
            <a:ext cx="8961120" cy="274320"/>
          </a:xfrm>
          <a:prstGeom prst="rect">
            <a:avLst/>
          </a:prstGeom>
          <a:noFill/>
        </p:spPr>
        <p:txBody>
          <a:bodyPr wrap="square">
            <a:spAutoFit/>
          </a:bodyPr>
          <a:lstStyle/>
          <a:p>
            <a:pPr algn="l">
              <a:defRPr sz="1000" b="0">
                <a:solidFill>
                  <a:srgbClr val="1A1A2E"/>
                </a:solidFill>
              </a:defRPr>
            </a:pPr>
            <a:r>
              <a:t>Refonte complete du frontend: sidebar navigation + glassmorphism</a:t>
            </a:r>
          </a:p>
        </p:txBody>
      </p:sp>
      <p:sp>
        <p:nvSpPr>
          <p:cNvPr id="37" name="Rectangle 36"/>
          <p:cNvSpPr/>
          <p:nvPr/>
        </p:nvSpPr>
        <p:spPr>
          <a:xfrm>
            <a:off x="457200" y="5084064"/>
            <a:ext cx="112471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5102352"/>
            <a:ext cx="1097280" cy="274320"/>
          </a:xfrm>
          <a:prstGeom prst="rect">
            <a:avLst/>
          </a:prstGeom>
          <a:noFill/>
        </p:spPr>
        <p:txBody>
          <a:bodyPr wrap="square">
            <a:spAutoFit/>
          </a:bodyPr>
          <a:lstStyle/>
          <a:p>
            <a:pPr algn="l">
              <a:defRPr sz="1000" b="1">
                <a:solidFill>
                  <a:srgbClr val="0A66C2"/>
                </a:solidFill>
              </a:defRPr>
            </a:pPr>
            <a:r>
              <a:t>f30b5b4</a:t>
            </a:r>
          </a:p>
        </p:txBody>
      </p:sp>
      <p:sp>
        <p:nvSpPr>
          <p:cNvPr id="39" name="TextBox 38"/>
          <p:cNvSpPr txBox="1"/>
          <p:nvPr/>
        </p:nvSpPr>
        <p:spPr>
          <a:xfrm>
            <a:off x="1645920" y="5102352"/>
            <a:ext cx="731520" cy="274320"/>
          </a:xfrm>
          <a:prstGeom prst="rect">
            <a:avLst/>
          </a:prstGeom>
          <a:noFill/>
        </p:spPr>
        <p:txBody>
          <a:bodyPr wrap="square">
            <a:spAutoFit/>
          </a:bodyPr>
          <a:lstStyle/>
          <a:p>
            <a:pPr algn="l">
              <a:defRPr sz="1000" b="0">
                <a:solidFill>
                  <a:srgbClr val="6C757D"/>
                </a:solidFill>
              </a:defRPr>
            </a:pPr>
            <a:r>
              <a:t>06/03</a:t>
            </a:r>
          </a:p>
        </p:txBody>
      </p:sp>
      <p:sp>
        <p:nvSpPr>
          <p:cNvPr id="40" name="TextBox 39"/>
          <p:cNvSpPr txBox="1"/>
          <p:nvPr/>
        </p:nvSpPr>
        <p:spPr>
          <a:xfrm>
            <a:off x="2560320" y="5102352"/>
            <a:ext cx="8961120" cy="274320"/>
          </a:xfrm>
          <a:prstGeom prst="rect">
            <a:avLst/>
          </a:prstGeom>
          <a:noFill/>
        </p:spPr>
        <p:txBody>
          <a:bodyPr wrap="square">
            <a:spAutoFit/>
          </a:bodyPr>
          <a:lstStyle/>
          <a:p>
            <a:pPr algn="l">
              <a:defRPr sz="1000" b="0">
                <a:solidFill>
                  <a:srgbClr val="1A1A2E"/>
                </a:solidFill>
              </a:defRPr>
            </a:pPr>
            <a:r>
              <a:t>Version alternative: theme Dark Cyberpunk</a:t>
            </a:r>
          </a:p>
        </p:txBody>
      </p:sp>
      <p:sp>
        <p:nvSpPr>
          <p:cNvPr id="41" name="Rectangle 40"/>
          <p:cNvSpPr/>
          <p:nvPr/>
        </p:nvSpPr>
        <p:spPr>
          <a:xfrm>
            <a:off x="457200" y="5431536"/>
            <a:ext cx="11247120" cy="3200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449824"/>
            <a:ext cx="1097280" cy="274320"/>
          </a:xfrm>
          <a:prstGeom prst="rect">
            <a:avLst/>
          </a:prstGeom>
          <a:noFill/>
        </p:spPr>
        <p:txBody>
          <a:bodyPr wrap="square">
            <a:spAutoFit/>
          </a:bodyPr>
          <a:lstStyle/>
          <a:p>
            <a:pPr algn="l">
              <a:defRPr sz="1000" b="1">
                <a:solidFill>
                  <a:srgbClr val="0A66C2"/>
                </a:solidFill>
              </a:defRPr>
            </a:pPr>
            <a:r>
              <a:t>4aebc8d</a:t>
            </a:r>
          </a:p>
        </p:txBody>
      </p:sp>
      <p:sp>
        <p:nvSpPr>
          <p:cNvPr id="43" name="TextBox 42"/>
          <p:cNvSpPr txBox="1"/>
          <p:nvPr/>
        </p:nvSpPr>
        <p:spPr>
          <a:xfrm>
            <a:off x="1645920" y="5449824"/>
            <a:ext cx="731520" cy="274320"/>
          </a:xfrm>
          <a:prstGeom prst="rect">
            <a:avLst/>
          </a:prstGeom>
          <a:noFill/>
        </p:spPr>
        <p:txBody>
          <a:bodyPr wrap="square">
            <a:spAutoFit/>
          </a:bodyPr>
          <a:lstStyle/>
          <a:p>
            <a:pPr algn="l">
              <a:defRPr sz="1000" b="0">
                <a:solidFill>
                  <a:srgbClr val="6C757D"/>
                </a:solidFill>
              </a:defRPr>
            </a:pPr>
            <a:r>
              <a:t>03/03</a:t>
            </a:r>
          </a:p>
        </p:txBody>
      </p:sp>
      <p:sp>
        <p:nvSpPr>
          <p:cNvPr id="44" name="TextBox 43"/>
          <p:cNvSpPr txBox="1"/>
          <p:nvPr/>
        </p:nvSpPr>
        <p:spPr>
          <a:xfrm>
            <a:off x="2560320" y="5449824"/>
            <a:ext cx="8961120" cy="274320"/>
          </a:xfrm>
          <a:prstGeom prst="rect">
            <a:avLst/>
          </a:prstGeom>
          <a:noFill/>
        </p:spPr>
        <p:txBody>
          <a:bodyPr wrap="square">
            <a:spAutoFit/>
          </a:bodyPr>
          <a:lstStyle/>
          <a:p>
            <a:pPr algn="l">
              <a:defRPr sz="1000" b="0">
                <a:solidFill>
                  <a:srgbClr val="1A1A2E"/>
                </a:solidFill>
              </a:defRPr>
            </a:pPr>
            <a:r>
              <a:t>Preparation deploiement cloud (Railway)</a:t>
            </a:r>
          </a:p>
        </p:txBody>
      </p:sp>
      <p:sp>
        <p:nvSpPr>
          <p:cNvPr id="45" name="Rectangle 44"/>
          <p:cNvSpPr/>
          <p:nvPr/>
        </p:nvSpPr>
        <p:spPr>
          <a:xfrm>
            <a:off x="457200" y="5779008"/>
            <a:ext cx="112471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5797296"/>
            <a:ext cx="1097280" cy="274320"/>
          </a:xfrm>
          <a:prstGeom prst="rect">
            <a:avLst/>
          </a:prstGeom>
          <a:noFill/>
        </p:spPr>
        <p:txBody>
          <a:bodyPr wrap="square">
            <a:spAutoFit/>
          </a:bodyPr>
          <a:lstStyle/>
          <a:p>
            <a:pPr algn="l">
              <a:defRPr sz="1000" b="1">
                <a:solidFill>
                  <a:srgbClr val="0A66C2"/>
                </a:solidFill>
              </a:defRPr>
            </a:pPr>
            <a:r>
              <a:t>836dad3</a:t>
            </a:r>
          </a:p>
        </p:txBody>
      </p:sp>
      <p:sp>
        <p:nvSpPr>
          <p:cNvPr id="47" name="TextBox 46"/>
          <p:cNvSpPr txBox="1"/>
          <p:nvPr/>
        </p:nvSpPr>
        <p:spPr>
          <a:xfrm>
            <a:off x="1645920" y="5797296"/>
            <a:ext cx="731520" cy="274320"/>
          </a:xfrm>
          <a:prstGeom prst="rect">
            <a:avLst/>
          </a:prstGeom>
          <a:noFill/>
        </p:spPr>
        <p:txBody>
          <a:bodyPr wrap="square">
            <a:spAutoFit/>
          </a:bodyPr>
          <a:lstStyle/>
          <a:p>
            <a:pPr algn="l">
              <a:defRPr sz="1000" b="0">
                <a:solidFill>
                  <a:srgbClr val="6C757D"/>
                </a:solidFill>
              </a:defRPr>
            </a:pPr>
            <a:r>
              <a:t>03/03</a:t>
            </a:r>
          </a:p>
        </p:txBody>
      </p:sp>
      <p:sp>
        <p:nvSpPr>
          <p:cNvPr id="48" name="TextBox 47"/>
          <p:cNvSpPr txBox="1"/>
          <p:nvPr/>
        </p:nvSpPr>
        <p:spPr>
          <a:xfrm>
            <a:off x="2560320" y="5797296"/>
            <a:ext cx="8961120" cy="274320"/>
          </a:xfrm>
          <a:prstGeom prst="rect">
            <a:avLst/>
          </a:prstGeom>
          <a:noFill/>
        </p:spPr>
        <p:txBody>
          <a:bodyPr wrap="square">
            <a:spAutoFit/>
          </a:bodyPr>
          <a:lstStyle/>
          <a:p>
            <a:pPr algn="l">
              <a:defRPr sz="1000" b="0">
                <a:solidFill>
                  <a:srgbClr val="1A1A2E"/>
                </a:solidFill>
              </a:defRPr>
            </a:pPr>
            <a:r>
              <a:t>Ajout appels audio/video</a:t>
            </a:r>
          </a:p>
        </p:txBody>
      </p:sp>
      <p:sp>
        <p:nvSpPr>
          <p:cNvPr id="49" name="Rectangle 48"/>
          <p:cNvSpPr/>
          <p:nvPr/>
        </p:nvSpPr>
        <p:spPr>
          <a:xfrm>
            <a:off x="457200" y="6126480"/>
            <a:ext cx="11247120" cy="3200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6144768"/>
            <a:ext cx="1097280" cy="274320"/>
          </a:xfrm>
          <a:prstGeom prst="rect">
            <a:avLst/>
          </a:prstGeom>
          <a:noFill/>
        </p:spPr>
        <p:txBody>
          <a:bodyPr wrap="square">
            <a:spAutoFit/>
          </a:bodyPr>
          <a:lstStyle/>
          <a:p>
            <a:pPr algn="l">
              <a:defRPr sz="1000" b="1">
                <a:solidFill>
                  <a:srgbClr val="0A66C2"/>
                </a:solidFill>
              </a:defRPr>
            </a:pPr>
            <a:r>
              <a:t>bd0a387</a:t>
            </a:r>
          </a:p>
        </p:txBody>
      </p:sp>
      <p:sp>
        <p:nvSpPr>
          <p:cNvPr id="51" name="TextBox 50"/>
          <p:cNvSpPr txBox="1"/>
          <p:nvPr/>
        </p:nvSpPr>
        <p:spPr>
          <a:xfrm>
            <a:off x="1645920" y="6144768"/>
            <a:ext cx="731520" cy="274320"/>
          </a:xfrm>
          <a:prstGeom prst="rect">
            <a:avLst/>
          </a:prstGeom>
          <a:noFill/>
        </p:spPr>
        <p:txBody>
          <a:bodyPr wrap="square">
            <a:spAutoFit/>
          </a:bodyPr>
          <a:lstStyle/>
          <a:p>
            <a:pPr algn="l">
              <a:defRPr sz="1000" b="0">
                <a:solidFill>
                  <a:srgbClr val="6C757D"/>
                </a:solidFill>
              </a:defRPr>
            </a:pPr>
            <a:r>
              <a:t>03/03</a:t>
            </a:r>
          </a:p>
        </p:txBody>
      </p:sp>
      <p:sp>
        <p:nvSpPr>
          <p:cNvPr id="52" name="TextBox 51"/>
          <p:cNvSpPr txBox="1"/>
          <p:nvPr/>
        </p:nvSpPr>
        <p:spPr>
          <a:xfrm>
            <a:off x="2560320" y="6144768"/>
            <a:ext cx="8961120" cy="274320"/>
          </a:xfrm>
          <a:prstGeom prst="rect">
            <a:avLst/>
          </a:prstGeom>
          <a:noFill/>
        </p:spPr>
        <p:txBody>
          <a:bodyPr wrap="square">
            <a:spAutoFit/>
          </a:bodyPr>
          <a:lstStyle/>
          <a:p>
            <a:pPr algn="l">
              <a:defRPr sz="1000" b="0">
                <a:solidFill>
                  <a:srgbClr val="1A1A2E"/>
                </a:solidFill>
              </a:defRPr>
            </a:pPr>
            <a:r>
              <a:t>Projet complet : toutes les fonctionnalites + photos utilisateurs</a:t>
            </a:r>
          </a:p>
        </p:txBody>
      </p:sp>
      <p:sp>
        <p:nvSpPr>
          <p:cNvPr id="53" name="TextBox 52"/>
          <p:cNvSpPr txBox="1"/>
          <p:nvPr/>
        </p:nvSpPr>
        <p:spPr>
          <a:xfrm>
            <a:off x="548640" y="6217920"/>
            <a:ext cx="10972800" cy="365760"/>
          </a:xfrm>
          <a:prstGeom prst="rect">
            <a:avLst/>
          </a:prstGeom>
          <a:noFill/>
        </p:spPr>
        <p:txBody>
          <a:bodyPr wrap="square">
            <a:spAutoFit/>
          </a:bodyPr>
          <a:lstStyle/>
          <a:p>
            <a:pPr algn="l">
              <a:defRPr sz="1200" b="0">
                <a:solidFill>
                  <a:srgbClr val="6C757D"/>
                </a:solidFill>
              </a:defRPr>
            </a:pPr>
            <a:r>
              <a:t>Note : Nikola a travaille principalement sur la conception BDD, les specs et la documentation (taches hors-code).</a:t>
            </a:r>
            <a:br/>
            <a:r>
              <a:t>Emmanuel a effectue la majorite des commits de code et du deploiement.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9a. Bilan individuel</a:t>
            </a:r>
          </a:p>
        </p:txBody>
      </p:sp>
      <p:sp>
        <p:nvSpPr>
          <p:cNvPr id="5" name="Rectangle 4"/>
          <p:cNvSpPr/>
          <p:nvPr/>
        </p:nvSpPr>
        <p:spPr>
          <a:xfrm>
            <a:off x="457200" y="1371600"/>
            <a:ext cx="5394960" cy="475488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5029200" cy="365760"/>
          </a:xfrm>
          <a:prstGeom prst="rect">
            <a:avLst/>
          </a:prstGeom>
          <a:noFill/>
        </p:spPr>
        <p:txBody>
          <a:bodyPr wrap="square">
            <a:spAutoFit/>
          </a:bodyPr>
          <a:lstStyle/>
          <a:p>
            <a:pPr algn="l">
              <a:defRPr sz="2200" b="1">
                <a:solidFill>
                  <a:srgbClr val="0A66C2"/>
                </a:solidFill>
              </a:defRPr>
            </a:pPr>
            <a:r>
              <a:t>Emmanuel ZERBIB</a:t>
            </a:r>
          </a:p>
        </p:txBody>
      </p:sp>
      <p:sp>
        <p:nvSpPr>
          <p:cNvPr id="7" name="TextBox 6"/>
          <p:cNvSpPr txBox="1"/>
          <p:nvPr/>
        </p:nvSpPr>
        <p:spPr>
          <a:xfrm>
            <a:off x="640080" y="1920240"/>
            <a:ext cx="5029200" cy="4114800"/>
          </a:xfrm>
          <a:prstGeom prst="rect">
            <a:avLst/>
          </a:prstGeom>
          <a:noFill/>
        </p:spPr>
        <p:txBody>
          <a:bodyPr wrap="square">
            <a:spAutoFit/>
          </a:bodyPr>
          <a:lstStyle/>
          <a:p>
            <a:pPr>
              <a:spcAft>
                <a:spcPts val="600"/>
              </a:spcAft>
              <a:defRPr sz="1300">
                <a:solidFill>
                  <a:srgbClr val="1A1A2E"/>
                </a:solidFill>
              </a:defRPr>
            </a:pPr>
            <a:r>
              <a:t>Ce projet m'a permis de consolider mes competences en</a:t>
            </a:r>
          </a:p>
          <a:p>
            <a:pPr>
              <a:spcAft>
                <a:spcPts val="600"/>
              </a:spcAft>
              <a:defRPr sz="1300">
                <a:solidFill>
                  <a:srgbClr val="1A1A2E"/>
                </a:solidFill>
              </a:defRPr>
            </a:pPr>
            <a:r>
              <a:t>developpement full-stack PHP/MySQL et en integration</a:t>
            </a:r>
          </a:p>
          <a:p>
            <a:pPr>
              <a:spcAft>
                <a:spcPts val="600"/>
              </a:spcAft>
              <a:defRPr sz="1300">
                <a:solidFill>
                  <a:srgbClr val="1A1A2E"/>
                </a:solidFill>
              </a:defRPr>
            </a:pPr>
            <a:r>
              <a:t>front-end avec Bootstrap.</a:t>
            </a:r>
          </a:p>
          <a:p>
            <a:pPr>
              <a:spcAft>
                <a:spcPts val="600"/>
              </a:spcAft>
              <a:defRPr sz="1300">
                <a:solidFill>
                  <a:srgbClr val="1A1A2E"/>
                </a:solidFill>
              </a:defRPr>
            </a:pPr>
          </a:p>
          <a:p>
            <a:pPr>
              <a:spcAft>
                <a:spcPts val="600"/>
              </a:spcAft>
              <a:defRPr sz="1300">
                <a:solidFill>
                  <a:srgbClr val="1A1A2E"/>
                </a:solidFill>
              </a:defRPr>
            </a:pPr>
            <a:r>
              <a:t>J'ai particulierement apprecie la mise en place de la</a:t>
            </a:r>
          </a:p>
          <a:p>
            <a:pPr>
              <a:spcAft>
                <a:spcPts val="600"/>
              </a:spcAft>
              <a:defRPr sz="1300">
                <a:solidFill>
                  <a:srgbClr val="1A1A2E"/>
                </a:solidFill>
              </a:defRPr>
            </a:pPr>
            <a:r>
              <a:t>messagerie en temps reel avec le polling AJAX, qui m'a</a:t>
            </a:r>
          </a:p>
          <a:p>
            <a:pPr>
              <a:spcAft>
                <a:spcPts val="600"/>
              </a:spcAft>
              <a:defRPr sz="1300">
                <a:solidFill>
                  <a:srgbClr val="1A1A2E"/>
                </a:solidFill>
              </a:defRPr>
            </a:pPr>
            <a:r>
              <a:t>fait comprendre les enjeux des applications interactives.</a:t>
            </a:r>
          </a:p>
          <a:p>
            <a:pPr>
              <a:spcAft>
                <a:spcPts val="600"/>
              </a:spcAft>
              <a:defRPr sz="1300">
                <a:solidFill>
                  <a:srgbClr val="1A1A2E"/>
                </a:solidFill>
              </a:defRPr>
            </a:pPr>
          </a:p>
          <a:p>
            <a:pPr>
              <a:spcAft>
                <a:spcPts val="600"/>
              </a:spcAft>
              <a:defRPr sz="1300">
                <a:solidFill>
                  <a:srgbClr val="1A1A2E"/>
                </a:solidFill>
              </a:defRPr>
            </a:pPr>
            <a:r>
              <a:t>La difficulte principale a ete le deploiement sur Railway,</a:t>
            </a:r>
          </a:p>
          <a:p>
            <a:pPr>
              <a:spcAft>
                <a:spcPts val="600"/>
              </a:spcAft>
              <a:defRPr sz="1300">
                <a:solidFill>
                  <a:srgbClr val="1A1A2E"/>
                </a:solidFill>
              </a:defRPr>
            </a:pPr>
            <a:r>
              <a:t>notamment la gestion des variables d'environnement et la</a:t>
            </a:r>
          </a:p>
          <a:p>
            <a:pPr>
              <a:spcAft>
                <a:spcPts val="600"/>
              </a:spcAft>
              <a:defRPr sz="1300">
                <a:solidFill>
                  <a:srgbClr val="1A1A2E"/>
                </a:solidFill>
              </a:defRPr>
            </a:pPr>
            <a:r>
              <a:t>compatibilite des chemins de fichiers entre local et cloud.</a:t>
            </a:r>
          </a:p>
          <a:p>
            <a:pPr>
              <a:spcAft>
                <a:spcPts val="600"/>
              </a:spcAft>
              <a:defRPr sz="1300">
                <a:solidFill>
                  <a:srgbClr val="1A1A2E"/>
                </a:solidFill>
              </a:defRPr>
            </a:pPr>
          </a:p>
          <a:p>
            <a:pPr>
              <a:spcAft>
                <a:spcPts val="600"/>
              </a:spcAft>
              <a:defRPr sz="1300">
                <a:solidFill>
                  <a:srgbClr val="1A1A2E"/>
                </a:solidFill>
              </a:defRPr>
            </a:pPr>
            <a:r>
              <a:t>Je suis fier du resultat final : une application complete</a:t>
            </a:r>
          </a:p>
          <a:p>
            <a:pPr>
              <a:spcAft>
                <a:spcPts val="600"/>
              </a:spcAft>
              <a:defRPr sz="1300">
                <a:solidFill>
                  <a:srgbClr val="1A1A2E"/>
                </a:solidFill>
              </a:defRPr>
            </a:pPr>
            <a:r>
              <a:t>et fonctionnelle avec un design professionnel.</a:t>
            </a:r>
          </a:p>
        </p:txBody>
      </p:sp>
      <p:sp>
        <p:nvSpPr>
          <p:cNvPr id="8" name="Rectangle 7"/>
          <p:cNvSpPr/>
          <p:nvPr/>
        </p:nvSpPr>
        <p:spPr>
          <a:xfrm>
            <a:off x="6217920" y="1371600"/>
            <a:ext cx="5394960" cy="475488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63040"/>
            <a:ext cx="5029200" cy="365760"/>
          </a:xfrm>
          <a:prstGeom prst="rect">
            <a:avLst/>
          </a:prstGeom>
          <a:noFill/>
        </p:spPr>
        <p:txBody>
          <a:bodyPr wrap="square">
            <a:spAutoFit/>
          </a:bodyPr>
          <a:lstStyle/>
          <a:p>
            <a:pPr algn="l">
              <a:defRPr sz="2200" b="1">
                <a:solidFill>
                  <a:srgbClr val="0A66C2"/>
                </a:solidFill>
              </a:defRPr>
            </a:pPr>
            <a:r>
              <a:t>Nikola VUCIC</a:t>
            </a:r>
          </a:p>
        </p:txBody>
      </p:sp>
      <p:sp>
        <p:nvSpPr>
          <p:cNvPr id="10" name="TextBox 9"/>
          <p:cNvSpPr txBox="1"/>
          <p:nvPr/>
        </p:nvSpPr>
        <p:spPr>
          <a:xfrm>
            <a:off x="6400800" y="1920240"/>
            <a:ext cx="5029200" cy="4114800"/>
          </a:xfrm>
          <a:prstGeom prst="rect">
            <a:avLst/>
          </a:prstGeom>
          <a:noFill/>
        </p:spPr>
        <p:txBody>
          <a:bodyPr wrap="square">
            <a:spAutoFit/>
          </a:bodyPr>
          <a:lstStyle/>
          <a:p>
            <a:pPr>
              <a:spcAft>
                <a:spcPts val="600"/>
              </a:spcAft>
              <a:defRPr sz="1300">
                <a:solidFill>
                  <a:srgbClr val="1A1A2E"/>
                </a:solidFill>
              </a:defRPr>
            </a:pPr>
            <a:r>
              <a:t>Ce projet m'a apporte une experience concrete en</a:t>
            </a:r>
          </a:p>
          <a:p>
            <a:pPr>
              <a:spcAft>
                <a:spcPts val="600"/>
              </a:spcAft>
              <a:defRPr sz="1300">
                <a:solidFill>
                  <a:srgbClr val="1A1A2E"/>
                </a:solidFill>
              </a:defRPr>
            </a:pPr>
            <a:r>
              <a:t>conception de bases de donnees relationnelles. La</a:t>
            </a:r>
          </a:p>
          <a:p>
            <a:pPr>
              <a:spcAft>
                <a:spcPts val="600"/>
              </a:spcAft>
              <a:defRPr sz="1300">
                <a:solidFill>
                  <a:srgbClr val="1A1A2E"/>
                </a:solidFill>
              </a:defRPr>
            </a:pPr>
            <a:r>
              <a:t>modelisation du MCD avec 16 entites et leurs relations</a:t>
            </a:r>
          </a:p>
          <a:p>
            <a:pPr>
              <a:spcAft>
                <a:spcPts val="600"/>
              </a:spcAft>
              <a:defRPr sz="1300">
                <a:solidFill>
                  <a:srgbClr val="1A1A2E"/>
                </a:solidFill>
              </a:defRPr>
            </a:pPr>
            <a:r>
              <a:t>a ete un exercice formateur.</a:t>
            </a:r>
          </a:p>
          <a:p>
            <a:pPr>
              <a:spcAft>
                <a:spcPts val="600"/>
              </a:spcAft>
              <a:defRPr sz="1300">
                <a:solidFill>
                  <a:srgbClr val="1A1A2E"/>
                </a:solidFill>
              </a:defRPr>
            </a:pPr>
          </a:p>
          <a:p>
            <a:pPr>
              <a:spcAft>
                <a:spcPts val="600"/>
              </a:spcAft>
              <a:defRPr sz="1300">
                <a:solidFill>
                  <a:srgbClr val="1A1A2E"/>
                </a:solidFill>
              </a:defRPr>
            </a:pPr>
            <a:r>
              <a:t>J'ai egalement approfondi mes connaissances en PHP,</a:t>
            </a:r>
          </a:p>
          <a:p>
            <a:pPr>
              <a:spcAft>
                <a:spcPts val="600"/>
              </a:spcAft>
              <a:defRPr sz="1300">
                <a:solidFill>
                  <a:srgbClr val="1A1A2E"/>
                </a:solidFill>
              </a:defRPr>
            </a:pPr>
            <a:r>
              <a:t>notamment sur le systeme d'authentification securise</a:t>
            </a:r>
          </a:p>
          <a:p>
            <a:pPr>
              <a:spcAft>
                <a:spcPts val="600"/>
              </a:spcAft>
              <a:defRPr sz="1300">
                <a:solidFill>
                  <a:srgbClr val="1A1A2E"/>
                </a:solidFill>
              </a:defRPr>
            </a:pPr>
            <a:r>
              <a:t>avec bcrypt et les sessions.</a:t>
            </a:r>
          </a:p>
          <a:p>
            <a:pPr>
              <a:spcAft>
                <a:spcPts val="600"/>
              </a:spcAft>
              <a:defRPr sz="1300">
                <a:solidFill>
                  <a:srgbClr val="1A1A2E"/>
                </a:solidFill>
              </a:defRPr>
            </a:pPr>
          </a:p>
          <a:p>
            <a:pPr>
              <a:spcAft>
                <a:spcPts val="600"/>
              </a:spcAft>
              <a:defRPr sz="1300">
                <a:solidFill>
                  <a:srgbClr val="1A1A2E"/>
                </a:solidFill>
              </a:defRPr>
            </a:pPr>
            <a:r>
              <a:t>La coordination avec Emmanuel s'est bien passee grace</a:t>
            </a:r>
          </a:p>
          <a:p>
            <a:pPr>
              <a:spcAft>
                <a:spcPts val="600"/>
              </a:spcAft>
              <a:defRPr sz="1300">
                <a:solidFill>
                  <a:srgbClr val="1A1A2E"/>
                </a:solidFill>
              </a:defRPr>
            </a:pPr>
            <a:r>
              <a:t>a l'utilisation de Git et a une repartition claire des taches.</a:t>
            </a:r>
          </a:p>
          <a:p>
            <a:pPr>
              <a:spcAft>
                <a:spcPts val="600"/>
              </a:spcAft>
              <a:defRPr sz="1300">
                <a:solidFill>
                  <a:srgbClr val="1A1A2E"/>
                </a:solidFill>
              </a:defRPr>
            </a:pPr>
          </a:p>
          <a:p>
            <a:pPr>
              <a:spcAft>
                <a:spcPts val="600"/>
              </a:spcAft>
              <a:defRPr sz="1300">
                <a:solidFill>
                  <a:srgbClr val="1A1A2E"/>
                </a:solidFill>
              </a:defRPr>
            </a:pPr>
            <a:r>
              <a:t>La principale difficulte a ete d'assurer la coherence</a:t>
            </a:r>
          </a:p>
          <a:p>
            <a:pPr>
              <a:spcAft>
                <a:spcPts val="600"/>
              </a:spcAft>
              <a:defRPr sz="1300">
                <a:solidFill>
                  <a:srgbClr val="1A1A2E"/>
                </a:solidFill>
              </a:defRPr>
            </a:pPr>
            <a:r>
              <a:t>entre le modele de donnees et les fonctionnalites front.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9b. Bilan collectif</a:t>
            </a:r>
          </a:p>
        </p:txBody>
      </p:sp>
      <p:sp>
        <p:nvSpPr>
          <p:cNvPr id="5" name="Rectangle 4"/>
          <p:cNvSpPr/>
          <p:nvPr/>
        </p:nvSpPr>
        <p:spPr>
          <a:xfrm>
            <a:off x="457200" y="1371600"/>
            <a:ext cx="5303520" cy="228600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463040"/>
            <a:ext cx="5029200" cy="320040"/>
          </a:xfrm>
          <a:prstGeom prst="rect">
            <a:avLst/>
          </a:prstGeom>
          <a:noFill/>
        </p:spPr>
        <p:txBody>
          <a:bodyPr wrap="square">
            <a:spAutoFit/>
          </a:bodyPr>
          <a:lstStyle/>
          <a:p>
            <a:pPr algn="l">
              <a:defRPr sz="1300" b="1">
                <a:solidFill>
                  <a:srgbClr val="198754"/>
                </a:solidFill>
              </a:defRPr>
            </a:pPr>
            <a:r>
              <a:t>Points positifs</a:t>
            </a:r>
          </a:p>
        </p:txBody>
      </p:sp>
      <p:sp>
        <p:nvSpPr>
          <p:cNvPr id="7" name="TextBox 6"/>
          <p:cNvSpPr txBox="1"/>
          <p:nvPr/>
        </p:nvSpPr>
        <p:spPr>
          <a:xfrm>
            <a:off x="594360" y="1783080"/>
            <a:ext cx="5029200" cy="1783080"/>
          </a:xfrm>
          <a:prstGeom prst="rect">
            <a:avLst/>
          </a:prstGeom>
          <a:noFill/>
        </p:spPr>
        <p:txBody>
          <a:bodyPr wrap="square">
            <a:spAutoFit/>
          </a:bodyPr>
          <a:lstStyle/>
          <a:p>
            <a:pPr>
              <a:spcAft>
                <a:spcPts val="600"/>
              </a:spcAft>
              <a:defRPr sz="1300">
                <a:solidFill>
                  <a:srgbClr val="6C757D"/>
                </a:solidFill>
              </a:defRPr>
            </a:pPr>
            <a:r>
              <a:t>Communication fluide tout au long du projet</a:t>
            </a:r>
          </a:p>
          <a:p>
            <a:pPr>
              <a:spcAft>
                <a:spcPts val="600"/>
              </a:spcAft>
              <a:defRPr sz="1300">
                <a:solidFill>
                  <a:srgbClr val="6C757D"/>
                </a:solidFill>
              </a:defRPr>
            </a:pPr>
            <a:r>
              <a:t>Repartition claire des taches (front/back + conception)</a:t>
            </a:r>
          </a:p>
          <a:p>
            <a:pPr>
              <a:spcAft>
                <a:spcPts val="600"/>
              </a:spcAft>
              <a:defRPr sz="1300">
                <a:solidFill>
                  <a:srgbClr val="6C757D"/>
                </a:solidFill>
              </a:defRPr>
            </a:pPr>
            <a:r>
              <a:t>Utilisation efficace de Git pour le versioning</a:t>
            </a:r>
          </a:p>
          <a:p>
            <a:pPr>
              <a:spcAft>
                <a:spcPts val="600"/>
              </a:spcAft>
              <a:defRPr sz="1300">
                <a:solidFill>
                  <a:srgbClr val="6C757D"/>
                </a:solidFill>
              </a:defRPr>
            </a:pPr>
            <a:r>
              <a:t>Application fonctionnelle et deployee en production</a:t>
            </a:r>
          </a:p>
          <a:p>
            <a:pPr>
              <a:spcAft>
                <a:spcPts val="600"/>
              </a:spcAft>
              <a:defRPr sz="1300">
                <a:solidFill>
                  <a:srgbClr val="6C757D"/>
                </a:solidFill>
              </a:defRPr>
            </a:pPr>
            <a:r>
              <a:t>Respect des deadlines pour les deux livrables</a:t>
            </a:r>
          </a:p>
          <a:p>
            <a:pPr>
              <a:spcAft>
                <a:spcPts val="600"/>
              </a:spcAft>
              <a:defRPr sz="1300">
                <a:solidFill>
                  <a:srgbClr val="6C757D"/>
                </a:solidFill>
              </a:defRPr>
            </a:pPr>
            <a:r>
              <a:t>Code bien structure et commente</a:t>
            </a:r>
          </a:p>
          <a:p>
            <a:pPr>
              <a:spcAft>
                <a:spcPts val="600"/>
              </a:spcAft>
              <a:defRPr sz="1300">
                <a:solidFill>
                  <a:srgbClr val="6C757D"/>
                </a:solidFill>
              </a:defRPr>
            </a:pPr>
            <a:r>
              <a:t>24 fonctionnalites implementees sur 24 prevues</a:t>
            </a:r>
          </a:p>
        </p:txBody>
      </p:sp>
      <p:sp>
        <p:nvSpPr>
          <p:cNvPr id="8" name="Rectangle 7"/>
          <p:cNvSpPr/>
          <p:nvPr/>
        </p:nvSpPr>
        <p:spPr>
          <a:xfrm>
            <a:off x="6217920" y="1371600"/>
            <a:ext cx="5303520" cy="228600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463040"/>
            <a:ext cx="5029200" cy="320040"/>
          </a:xfrm>
          <a:prstGeom prst="rect">
            <a:avLst/>
          </a:prstGeom>
          <a:noFill/>
        </p:spPr>
        <p:txBody>
          <a:bodyPr wrap="square">
            <a:spAutoFit/>
          </a:bodyPr>
          <a:lstStyle/>
          <a:p>
            <a:pPr algn="l">
              <a:defRPr sz="1300" b="1">
                <a:solidFill>
                  <a:srgbClr val="DC3545"/>
                </a:solidFill>
              </a:defRPr>
            </a:pPr>
            <a:r>
              <a:t>Difficultes rencontrees</a:t>
            </a:r>
          </a:p>
        </p:txBody>
      </p:sp>
      <p:sp>
        <p:nvSpPr>
          <p:cNvPr id="10" name="TextBox 9"/>
          <p:cNvSpPr txBox="1"/>
          <p:nvPr/>
        </p:nvSpPr>
        <p:spPr>
          <a:xfrm>
            <a:off x="6355080" y="1783080"/>
            <a:ext cx="5029200" cy="1783080"/>
          </a:xfrm>
          <a:prstGeom prst="rect">
            <a:avLst/>
          </a:prstGeom>
          <a:noFill/>
        </p:spPr>
        <p:txBody>
          <a:bodyPr wrap="square">
            <a:spAutoFit/>
          </a:bodyPr>
          <a:lstStyle/>
          <a:p>
            <a:pPr>
              <a:spcAft>
                <a:spcPts val="600"/>
              </a:spcAft>
              <a:defRPr sz="1300">
                <a:solidFill>
                  <a:srgbClr val="6C757D"/>
                </a:solidFill>
              </a:defRPr>
            </a:pPr>
            <a:r>
              <a:t>Deploiement Railway : variables d'environnement,</a:t>
            </a:r>
          </a:p>
          <a:p>
            <a:pPr>
              <a:spcAft>
                <a:spcPts val="600"/>
              </a:spcAft>
              <a:defRPr sz="1300">
                <a:solidFill>
                  <a:srgbClr val="6C757D"/>
                </a:solidFill>
              </a:defRPr>
            </a:pPr>
            <a:r>
              <a:t>  compatibilite MySQL, gestion des uploads</a:t>
            </a:r>
          </a:p>
          <a:p>
            <a:pPr>
              <a:spcAft>
                <a:spcPts val="600"/>
              </a:spcAft>
              <a:defRPr sz="1300">
                <a:solidFill>
                  <a:srgbClr val="6C757D"/>
                </a:solidFill>
              </a:defRPr>
            </a:pPr>
            <a:r>
              <a:t>Messagerie temps reel : le polling est une solution</a:t>
            </a:r>
          </a:p>
          <a:p>
            <a:pPr>
              <a:spcAft>
                <a:spcPts val="600"/>
              </a:spcAft>
              <a:defRPr sz="1300">
                <a:solidFill>
                  <a:srgbClr val="6C757D"/>
                </a:solidFill>
              </a:defRPr>
            </a:pPr>
            <a:r>
              <a:t>  fonctionnelle mais pas optimale (WebSockets ideal)</a:t>
            </a:r>
          </a:p>
          <a:p>
            <a:pPr>
              <a:spcAft>
                <a:spcPts val="600"/>
              </a:spcAft>
              <a:defRPr sz="1300">
                <a:solidFill>
                  <a:srgbClr val="6C757D"/>
                </a:solidFill>
              </a:defRPr>
            </a:pPr>
            <a:r>
              <a:t>Gestion des photos de profil : fallbacks et stockage</a:t>
            </a:r>
          </a:p>
          <a:p>
            <a:pPr>
              <a:spcAft>
                <a:spcPts val="600"/>
              </a:spcAft>
              <a:defRPr sz="1300">
                <a:solidFill>
                  <a:srgbClr val="6C757D"/>
                </a:solidFill>
              </a:defRPr>
            </a:pPr>
            <a:r>
              <a:t>  en LONGBLOB apres echec du filesystem sur Railway</a:t>
            </a:r>
          </a:p>
          <a:p>
            <a:pPr>
              <a:spcAft>
                <a:spcPts val="600"/>
              </a:spcAft>
              <a:defRPr sz="1300">
                <a:solidFill>
                  <a:srgbClr val="6C757D"/>
                </a:solidFill>
              </a:defRPr>
            </a:pPr>
            <a:r>
              <a:t>Coordination sur les specs BDD : ajustements iteratifs</a:t>
            </a:r>
          </a:p>
        </p:txBody>
      </p:sp>
      <p:sp>
        <p:nvSpPr>
          <p:cNvPr id="11" name="Rectangle 10"/>
          <p:cNvSpPr/>
          <p:nvPr/>
        </p:nvSpPr>
        <p:spPr>
          <a:xfrm>
            <a:off x="457200" y="3931920"/>
            <a:ext cx="11064240" cy="2011680"/>
          </a:xfrm>
          <a:prstGeom prst="rect">
            <a:avLst/>
          </a:prstGeom>
          <a:solidFill>
            <a:srgbClr val="F4F6F8"/>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023360"/>
            <a:ext cx="10789920" cy="320040"/>
          </a:xfrm>
          <a:prstGeom prst="rect">
            <a:avLst/>
          </a:prstGeom>
          <a:noFill/>
        </p:spPr>
        <p:txBody>
          <a:bodyPr wrap="square">
            <a:spAutoFit/>
          </a:bodyPr>
          <a:lstStyle/>
          <a:p>
            <a:pPr algn="l">
              <a:defRPr sz="1300" b="1">
                <a:solidFill>
                  <a:srgbClr val="0A66C2"/>
                </a:solidFill>
              </a:defRPr>
            </a:pPr>
            <a:r>
              <a:t>Etat du travail effectue</a:t>
            </a:r>
          </a:p>
        </p:txBody>
      </p:sp>
      <p:sp>
        <p:nvSpPr>
          <p:cNvPr id="13" name="TextBox 12"/>
          <p:cNvSpPr txBox="1"/>
          <p:nvPr/>
        </p:nvSpPr>
        <p:spPr>
          <a:xfrm>
            <a:off x="594360" y="4343400"/>
            <a:ext cx="10789920" cy="1508760"/>
          </a:xfrm>
          <a:prstGeom prst="rect">
            <a:avLst/>
          </a:prstGeom>
          <a:noFill/>
        </p:spPr>
        <p:txBody>
          <a:bodyPr wrap="square">
            <a:spAutoFit/>
          </a:bodyPr>
          <a:lstStyle/>
          <a:p>
            <a:pPr>
              <a:spcAft>
                <a:spcPts val="600"/>
              </a:spcAft>
              <a:defRPr sz="1300">
                <a:solidFill>
                  <a:srgbClr val="1A1A2E"/>
                </a:solidFill>
              </a:defRPr>
            </a:pPr>
            <a:r>
              <a:t>Application 100% fonctionnelle deployee sur Railway avec toutes les pages et fonctionnalites du sujet</a:t>
            </a:r>
          </a:p>
          <a:p>
            <a:pPr>
              <a:spcAft>
                <a:spcPts val="600"/>
              </a:spcAft>
              <a:defRPr sz="1300">
                <a:solidFill>
                  <a:srgbClr val="1A1A2E"/>
                </a:solidFill>
              </a:defRPr>
            </a:pPr>
            <a:r>
              <a:t>16 tables MySQL avec relations, contraintes et donnees de test</a:t>
            </a:r>
          </a:p>
          <a:p>
            <a:pPr>
              <a:spcAft>
                <a:spcPts val="600"/>
              </a:spcAft>
              <a:defRPr sz="1300">
                <a:solidFill>
                  <a:srgbClr val="1A1A2E"/>
                </a:solidFill>
              </a:defRPr>
            </a:pPr>
            <a:r>
              <a:t>10 pages PHP + 9 endpoints API AJAX + 1 panel d'administration</a:t>
            </a:r>
          </a:p>
          <a:p>
            <a:pPr>
              <a:spcAft>
                <a:spcPts val="600"/>
              </a:spcAft>
              <a:defRPr sz="1300">
                <a:solidFill>
                  <a:srgbClr val="1A1A2E"/>
                </a:solidFill>
              </a:defRPr>
            </a:pPr>
            <a:r>
              <a:t>Interface responsive (Bootstrap 5) avec adaptation mobile + themes saisonniers</a:t>
            </a:r>
          </a:p>
          <a:p>
            <a:pPr>
              <a:spcAft>
                <a:spcPts val="600"/>
              </a:spcAft>
              <a:defRPr sz="1300">
                <a:solidFill>
                  <a:srgbClr val="1A1A2E"/>
                </a:solidFill>
              </a:defRPr>
            </a:pPr>
            <a:r>
              <a:t>Securite : bcrypt, PDO prepare, XSS protege, sessions securisees, restriction email ECE</a:t>
            </a:r>
          </a:p>
          <a:p>
            <a:pPr>
              <a:spcAft>
                <a:spcPts val="600"/>
              </a:spcAft>
              <a:defRPr sz="1300">
                <a:solidFill>
                  <a:srgbClr val="1A1A2E"/>
                </a:solidFill>
              </a:defRPr>
            </a:pPr>
            <a:r>
              <a:t>Ameliorations possibles : WebSockets, notifications push, recherche full-text, tests automatises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2000" b="1">
                <a:solidFill>
                  <a:srgbClr val="0A66C2"/>
                </a:solidFill>
              </a:defRPr>
            </a:pPr>
            <a:r>
              <a:t>ECE In</a:t>
            </a:r>
          </a:p>
        </p:txBody>
      </p:sp>
      <p:sp>
        <p:nvSpPr>
          <p:cNvPr id="4" name="TextBox 3"/>
          <p:cNvSpPr txBox="1"/>
          <p:nvPr/>
        </p:nvSpPr>
        <p:spPr>
          <a:xfrm>
            <a:off x="548640" y="502920"/>
            <a:ext cx="10972800" cy="457200"/>
          </a:xfrm>
          <a:prstGeom prst="rect">
            <a:avLst/>
          </a:prstGeom>
          <a:noFill/>
        </p:spPr>
        <p:txBody>
          <a:bodyPr wrap="square">
            <a:spAutoFit/>
          </a:bodyPr>
          <a:lstStyle/>
          <a:p>
            <a:pPr algn="l">
              <a:defRPr sz="2800" b="1">
                <a:solidFill>
                  <a:srgbClr val="FFFFFF"/>
                </a:solidFill>
              </a:defRPr>
            </a:pPr>
            <a:r>
              <a:t>10. References &amp; Bibliographie</a:t>
            </a:r>
          </a:p>
        </p:txBody>
      </p:sp>
      <p:sp>
        <p:nvSpPr>
          <p:cNvPr id="5" name="TextBox 4"/>
          <p:cNvSpPr txBox="1"/>
          <p:nvPr/>
        </p:nvSpPr>
        <p:spPr>
          <a:xfrm>
            <a:off x="548640" y="1371600"/>
            <a:ext cx="4572000" cy="320040"/>
          </a:xfrm>
          <a:prstGeom prst="rect">
            <a:avLst/>
          </a:prstGeom>
          <a:noFill/>
        </p:spPr>
        <p:txBody>
          <a:bodyPr wrap="square">
            <a:spAutoFit/>
          </a:bodyPr>
          <a:lstStyle/>
          <a:p>
            <a:pPr algn="l">
              <a:defRPr sz="1300" b="1">
                <a:solidFill>
                  <a:srgbClr val="1A1A2E"/>
                </a:solidFill>
              </a:defRPr>
            </a:pPr>
            <a:r>
              <a:t>Documentation PHP</a:t>
            </a:r>
          </a:p>
        </p:txBody>
      </p:sp>
      <p:sp>
        <p:nvSpPr>
          <p:cNvPr id="6" name="TextBox 5"/>
          <p:cNvSpPr txBox="1"/>
          <p:nvPr/>
        </p:nvSpPr>
        <p:spPr>
          <a:xfrm>
            <a:off x="5120640" y="1371600"/>
            <a:ext cx="6583680" cy="320040"/>
          </a:xfrm>
          <a:prstGeom prst="rect">
            <a:avLst/>
          </a:prstGeom>
          <a:noFill/>
        </p:spPr>
        <p:txBody>
          <a:bodyPr wrap="square">
            <a:spAutoFit/>
          </a:bodyPr>
          <a:lstStyle/>
          <a:p>
            <a:pPr algn="l">
              <a:defRPr sz="1200" b="0">
                <a:solidFill>
                  <a:srgbClr val="0A66C2"/>
                </a:solidFill>
              </a:defRPr>
            </a:pPr>
            <a:r>
              <a:t>https://www.php.net/docs.php</a:t>
            </a:r>
          </a:p>
        </p:txBody>
      </p:sp>
      <p:sp>
        <p:nvSpPr>
          <p:cNvPr id="7" name="TextBox 6"/>
          <p:cNvSpPr txBox="1"/>
          <p:nvPr/>
        </p:nvSpPr>
        <p:spPr>
          <a:xfrm>
            <a:off x="548640" y="1719072"/>
            <a:ext cx="4572000" cy="320040"/>
          </a:xfrm>
          <a:prstGeom prst="rect">
            <a:avLst/>
          </a:prstGeom>
          <a:noFill/>
        </p:spPr>
        <p:txBody>
          <a:bodyPr wrap="square">
            <a:spAutoFit/>
          </a:bodyPr>
          <a:lstStyle/>
          <a:p>
            <a:pPr algn="l">
              <a:defRPr sz="1300" b="1">
                <a:solidFill>
                  <a:srgbClr val="1A1A2E"/>
                </a:solidFill>
              </a:defRPr>
            </a:pPr>
            <a:r>
              <a:t>Documentation MySQL</a:t>
            </a:r>
          </a:p>
        </p:txBody>
      </p:sp>
      <p:sp>
        <p:nvSpPr>
          <p:cNvPr id="8" name="TextBox 7"/>
          <p:cNvSpPr txBox="1"/>
          <p:nvPr/>
        </p:nvSpPr>
        <p:spPr>
          <a:xfrm>
            <a:off x="5120640" y="1719072"/>
            <a:ext cx="6583680" cy="320040"/>
          </a:xfrm>
          <a:prstGeom prst="rect">
            <a:avLst/>
          </a:prstGeom>
          <a:noFill/>
        </p:spPr>
        <p:txBody>
          <a:bodyPr wrap="square">
            <a:spAutoFit/>
          </a:bodyPr>
          <a:lstStyle/>
          <a:p>
            <a:pPr algn="l">
              <a:defRPr sz="1200" b="0">
                <a:solidFill>
                  <a:srgbClr val="0A66C2"/>
                </a:solidFill>
              </a:defRPr>
            </a:pPr>
            <a:r>
              <a:t>https://dev.mysql.com/doc/</a:t>
            </a:r>
          </a:p>
        </p:txBody>
      </p:sp>
      <p:sp>
        <p:nvSpPr>
          <p:cNvPr id="9" name="TextBox 8"/>
          <p:cNvSpPr txBox="1"/>
          <p:nvPr/>
        </p:nvSpPr>
        <p:spPr>
          <a:xfrm>
            <a:off x="548640" y="2066544"/>
            <a:ext cx="4572000" cy="320040"/>
          </a:xfrm>
          <a:prstGeom prst="rect">
            <a:avLst/>
          </a:prstGeom>
          <a:noFill/>
        </p:spPr>
        <p:txBody>
          <a:bodyPr wrap="square">
            <a:spAutoFit/>
          </a:bodyPr>
          <a:lstStyle/>
          <a:p>
            <a:pPr algn="l">
              <a:defRPr sz="1300" b="1">
                <a:solidFill>
                  <a:srgbClr val="1A1A2E"/>
                </a:solidFill>
              </a:defRPr>
            </a:pPr>
            <a:r>
              <a:t>Bootstrap 5 Documentation</a:t>
            </a:r>
          </a:p>
        </p:txBody>
      </p:sp>
      <p:sp>
        <p:nvSpPr>
          <p:cNvPr id="10" name="TextBox 9"/>
          <p:cNvSpPr txBox="1"/>
          <p:nvPr/>
        </p:nvSpPr>
        <p:spPr>
          <a:xfrm>
            <a:off x="5120640" y="2066544"/>
            <a:ext cx="6583680" cy="320040"/>
          </a:xfrm>
          <a:prstGeom prst="rect">
            <a:avLst/>
          </a:prstGeom>
          <a:noFill/>
        </p:spPr>
        <p:txBody>
          <a:bodyPr wrap="square">
            <a:spAutoFit/>
          </a:bodyPr>
          <a:lstStyle/>
          <a:p>
            <a:pPr algn="l">
              <a:defRPr sz="1200" b="0">
                <a:solidFill>
                  <a:srgbClr val="0A66C2"/>
                </a:solidFill>
              </a:defRPr>
            </a:pPr>
            <a:r>
              <a:t>https://getbootstrap.com/docs/5.3/</a:t>
            </a:r>
          </a:p>
        </p:txBody>
      </p:sp>
      <p:sp>
        <p:nvSpPr>
          <p:cNvPr id="11" name="TextBox 10"/>
          <p:cNvSpPr txBox="1"/>
          <p:nvPr/>
        </p:nvSpPr>
        <p:spPr>
          <a:xfrm>
            <a:off x="548640" y="2414016"/>
            <a:ext cx="4572000" cy="320040"/>
          </a:xfrm>
          <a:prstGeom prst="rect">
            <a:avLst/>
          </a:prstGeom>
          <a:noFill/>
        </p:spPr>
        <p:txBody>
          <a:bodyPr wrap="square">
            <a:spAutoFit/>
          </a:bodyPr>
          <a:lstStyle/>
          <a:p>
            <a:pPr algn="l">
              <a:defRPr sz="1300" b="1">
                <a:solidFill>
                  <a:srgbClr val="1A1A2E"/>
                </a:solidFill>
              </a:defRPr>
            </a:pPr>
            <a:r>
              <a:t>jQuery Documentation</a:t>
            </a:r>
          </a:p>
        </p:txBody>
      </p:sp>
      <p:sp>
        <p:nvSpPr>
          <p:cNvPr id="12" name="TextBox 11"/>
          <p:cNvSpPr txBox="1"/>
          <p:nvPr/>
        </p:nvSpPr>
        <p:spPr>
          <a:xfrm>
            <a:off x="5120640" y="2414016"/>
            <a:ext cx="6583680" cy="320040"/>
          </a:xfrm>
          <a:prstGeom prst="rect">
            <a:avLst/>
          </a:prstGeom>
          <a:noFill/>
        </p:spPr>
        <p:txBody>
          <a:bodyPr wrap="square">
            <a:spAutoFit/>
          </a:bodyPr>
          <a:lstStyle/>
          <a:p>
            <a:pPr algn="l">
              <a:defRPr sz="1200" b="0">
                <a:solidFill>
                  <a:srgbClr val="0A66C2"/>
                </a:solidFill>
              </a:defRPr>
            </a:pPr>
            <a:r>
              <a:t>https://api.jquery.com/</a:t>
            </a:r>
          </a:p>
        </p:txBody>
      </p:sp>
      <p:sp>
        <p:nvSpPr>
          <p:cNvPr id="13" name="TextBox 12"/>
          <p:cNvSpPr txBox="1"/>
          <p:nvPr/>
        </p:nvSpPr>
        <p:spPr>
          <a:xfrm>
            <a:off x="548640" y="2761488"/>
            <a:ext cx="4572000" cy="320040"/>
          </a:xfrm>
          <a:prstGeom prst="rect">
            <a:avLst/>
          </a:prstGeom>
          <a:noFill/>
        </p:spPr>
        <p:txBody>
          <a:bodyPr wrap="square">
            <a:spAutoFit/>
          </a:bodyPr>
          <a:lstStyle/>
          <a:p>
            <a:pPr algn="l">
              <a:defRPr sz="1300" b="1">
                <a:solidFill>
                  <a:srgbClr val="1A1A2E"/>
                </a:solidFill>
              </a:defRPr>
            </a:pPr>
            <a:r>
              <a:t>W3Schools (HTML, CSS, PHP, SQL)</a:t>
            </a:r>
          </a:p>
        </p:txBody>
      </p:sp>
      <p:sp>
        <p:nvSpPr>
          <p:cNvPr id="14" name="TextBox 13"/>
          <p:cNvSpPr txBox="1"/>
          <p:nvPr/>
        </p:nvSpPr>
        <p:spPr>
          <a:xfrm>
            <a:off x="5120640" y="2761488"/>
            <a:ext cx="6583680" cy="320040"/>
          </a:xfrm>
          <a:prstGeom prst="rect">
            <a:avLst/>
          </a:prstGeom>
          <a:noFill/>
        </p:spPr>
        <p:txBody>
          <a:bodyPr wrap="square">
            <a:spAutoFit/>
          </a:bodyPr>
          <a:lstStyle/>
          <a:p>
            <a:pPr algn="l">
              <a:defRPr sz="1200" b="0">
                <a:solidFill>
                  <a:srgbClr val="0A66C2"/>
                </a:solidFill>
              </a:defRPr>
            </a:pPr>
            <a:r>
              <a:t>https://www.w3schools.com/</a:t>
            </a:r>
          </a:p>
        </p:txBody>
      </p:sp>
      <p:sp>
        <p:nvSpPr>
          <p:cNvPr id="15" name="TextBox 14"/>
          <p:cNvSpPr txBox="1"/>
          <p:nvPr/>
        </p:nvSpPr>
        <p:spPr>
          <a:xfrm>
            <a:off x="548640" y="3108960"/>
            <a:ext cx="4572000" cy="320040"/>
          </a:xfrm>
          <a:prstGeom prst="rect">
            <a:avLst/>
          </a:prstGeom>
          <a:noFill/>
        </p:spPr>
        <p:txBody>
          <a:bodyPr wrap="square">
            <a:spAutoFit/>
          </a:bodyPr>
          <a:lstStyle/>
          <a:p>
            <a:pPr algn="l">
              <a:defRPr sz="1300" b="1">
                <a:solidFill>
                  <a:srgbClr val="1A1A2E"/>
                </a:solidFill>
              </a:defRPr>
            </a:pPr>
            <a:r>
              <a:t>MDN Web Docs (JavaScript, AJAX, Fetch API)</a:t>
            </a:r>
          </a:p>
        </p:txBody>
      </p:sp>
      <p:sp>
        <p:nvSpPr>
          <p:cNvPr id="16" name="TextBox 15"/>
          <p:cNvSpPr txBox="1"/>
          <p:nvPr/>
        </p:nvSpPr>
        <p:spPr>
          <a:xfrm>
            <a:off x="5120640" y="3108960"/>
            <a:ext cx="6583680" cy="320040"/>
          </a:xfrm>
          <a:prstGeom prst="rect">
            <a:avLst/>
          </a:prstGeom>
          <a:noFill/>
        </p:spPr>
        <p:txBody>
          <a:bodyPr wrap="square">
            <a:spAutoFit/>
          </a:bodyPr>
          <a:lstStyle/>
          <a:p>
            <a:pPr algn="l">
              <a:defRPr sz="1200" b="0">
                <a:solidFill>
                  <a:srgbClr val="0A66C2"/>
                </a:solidFill>
              </a:defRPr>
            </a:pPr>
            <a:r>
              <a:t>https://developer.mozilla.org/</a:t>
            </a:r>
          </a:p>
        </p:txBody>
      </p:sp>
      <p:sp>
        <p:nvSpPr>
          <p:cNvPr id="17" name="TextBox 16"/>
          <p:cNvSpPr txBox="1"/>
          <p:nvPr/>
        </p:nvSpPr>
        <p:spPr>
          <a:xfrm>
            <a:off x="548640" y="3456432"/>
            <a:ext cx="4572000" cy="320040"/>
          </a:xfrm>
          <a:prstGeom prst="rect">
            <a:avLst/>
          </a:prstGeom>
          <a:noFill/>
        </p:spPr>
        <p:txBody>
          <a:bodyPr wrap="square">
            <a:spAutoFit/>
          </a:bodyPr>
          <a:lstStyle/>
          <a:p>
            <a:pPr algn="l">
              <a:defRPr sz="1300" b="1">
                <a:solidFill>
                  <a:srgbClr val="1A1A2E"/>
                </a:solidFill>
              </a:defRPr>
            </a:pPr>
            <a:r>
              <a:t>Stack Overflow (debogage, solutions techniques)</a:t>
            </a:r>
          </a:p>
        </p:txBody>
      </p:sp>
      <p:sp>
        <p:nvSpPr>
          <p:cNvPr id="18" name="TextBox 17"/>
          <p:cNvSpPr txBox="1"/>
          <p:nvPr/>
        </p:nvSpPr>
        <p:spPr>
          <a:xfrm>
            <a:off x="5120640" y="3456432"/>
            <a:ext cx="6583680" cy="320040"/>
          </a:xfrm>
          <a:prstGeom prst="rect">
            <a:avLst/>
          </a:prstGeom>
          <a:noFill/>
        </p:spPr>
        <p:txBody>
          <a:bodyPr wrap="square">
            <a:spAutoFit/>
          </a:bodyPr>
          <a:lstStyle/>
          <a:p>
            <a:pPr algn="l">
              <a:defRPr sz="1200" b="0">
                <a:solidFill>
                  <a:srgbClr val="0A66C2"/>
                </a:solidFill>
              </a:defRPr>
            </a:pPr>
            <a:r>
              <a:t>https://stackoverflow.com/</a:t>
            </a:r>
          </a:p>
        </p:txBody>
      </p:sp>
      <p:sp>
        <p:nvSpPr>
          <p:cNvPr id="19" name="TextBox 18"/>
          <p:cNvSpPr txBox="1"/>
          <p:nvPr/>
        </p:nvSpPr>
        <p:spPr>
          <a:xfrm>
            <a:off x="548640" y="3803904"/>
            <a:ext cx="4572000" cy="320040"/>
          </a:xfrm>
          <a:prstGeom prst="rect">
            <a:avLst/>
          </a:prstGeom>
          <a:noFill/>
        </p:spPr>
        <p:txBody>
          <a:bodyPr wrap="square">
            <a:spAutoFit/>
          </a:bodyPr>
          <a:lstStyle/>
          <a:p>
            <a:pPr algn="l">
              <a:defRPr sz="1300" b="1">
                <a:solidFill>
                  <a:srgbClr val="1A1A2E"/>
                </a:solidFill>
              </a:defRPr>
            </a:pPr>
            <a:r>
              <a:t>Railway Documentation (deploiement)</a:t>
            </a:r>
          </a:p>
        </p:txBody>
      </p:sp>
      <p:sp>
        <p:nvSpPr>
          <p:cNvPr id="20" name="TextBox 19"/>
          <p:cNvSpPr txBox="1"/>
          <p:nvPr/>
        </p:nvSpPr>
        <p:spPr>
          <a:xfrm>
            <a:off x="5120640" y="3803904"/>
            <a:ext cx="6583680" cy="320040"/>
          </a:xfrm>
          <a:prstGeom prst="rect">
            <a:avLst/>
          </a:prstGeom>
          <a:noFill/>
        </p:spPr>
        <p:txBody>
          <a:bodyPr wrap="square">
            <a:spAutoFit/>
          </a:bodyPr>
          <a:lstStyle/>
          <a:p>
            <a:pPr algn="l">
              <a:defRPr sz="1200" b="0">
                <a:solidFill>
                  <a:srgbClr val="0A66C2"/>
                </a:solidFill>
              </a:defRPr>
            </a:pPr>
            <a:r>
              <a:t>https://docs.railway.app/</a:t>
            </a:r>
          </a:p>
        </p:txBody>
      </p:sp>
      <p:sp>
        <p:nvSpPr>
          <p:cNvPr id="21" name="TextBox 20"/>
          <p:cNvSpPr txBox="1"/>
          <p:nvPr/>
        </p:nvSpPr>
        <p:spPr>
          <a:xfrm>
            <a:off x="548640" y="4151376"/>
            <a:ext cx="4572000" cy="320040"/>
          </a:xfrm>
          <a:prstGeom prst="rect">
            <a:avLst/>
          </a:prstGeom>
          <a:noFill/>
        </p:spPr>
        <p:txBody>
          <a:bodyPr wrap="square">
            <a:spAutoFit/>
          </a:bodyPr>
          <a:lstStyle/>
          <a:p>
            <a:pPr algn="l">
              <a:defRPr sz="1300" b="1">
                <a:solidFill>
                  <a:srgbClr val="1A1A2E"/>
                </a:solidFill>
              </a:defRPr>
            </a:pPr>
            <a:r>
              <a:t>Nixpacks Documentation</a:t>
            </a:r>
          </a:p>
        </p:txBody>
      </p:sp>
      <p:sp>
        <p:nvSpPr>
          <p:cNvPr id="22" name="TextBox 21"/>
          <p:cNvSpPr txBox="1"/>
          <p:nvPr/>
        </p:nvSpPr>
        <p:spPr>
          <a:xfrm>
            <a:off x="5120640" y="4151376"/>
            <a:ext cx="6583680" cy="320040"/>
          </a:xfrm>
          <a:prstGeom prst="rect">
            <a:avLst/>
          </a:prstGeom>
          <a:noFill/>
        </p:spPr>
        <p:txBody>
          <a:bodyPr wrap="square">
            <a:spAutoFit/>
          </a:bodyPr>
          <a:lstStyle/>
          <a:p>
            <a:pPr algn="l">
              <a:defRPr sz="1200" b="0">
                <a:solidFill>
                  <a:srgbClr val="0A66C2"/>
                </a:solidFill>
              </a:defRPr>
            </a:pPr>
            <a:r>
              <a:t>https://nixpacks.com/docs</a:t>
            </a:r>
          </a:p>
        </p:txBody>
      </p:sp>
      <p:sp>
        <p:nvSpPr>
          <p:cNvPr id="23" name="TextBox 22"/>
          <p:cNvSpPr txBox="1"/>
          <p:nvPr/>
        </p:nvSpPr>
        <p:spPr>
          <a:xfrm>
            <a:off x="548640" y="4498848"/>
            <a:ext cx="4572000" cy="320040"/>
          </a:xfrm>
          <a:prstGeom prst="rect">
            <a:avLst/>
          </a:prstGeom>
          <a:noFill/>
        </p:spPr>
        <p:txBody>
          <a:bodyPr wrap="square">
            <a:spAutoFit/>
          </a:bodyPr>
          <a:lstStyle/>
          <a:p>
            <a:pPr algn="l">
              <a:defRPr sz="1300" b="1">
                <a:solidFill>
                  <a:srgbClr val="1A1A2E"/>
                </a:solidFill>
              </a:defRPr>
            </a:pPr>
            <a:r>
              <a:t>Bootstrap Icons</a:t>
            </a:r>
          </a:p>
        </p:txBody>
      </p:sp>
      <p:sp>
        <p:nvSpPr>
          <p:cNvPr id="24" name="TextBox 23"/>
          <p:cNvSpPr txBox="1"/>
          <p:nvPr/>
        </p:nvSpPr>
        <p:spPr>
          <a:xfrm>
            <a:off x="5120640" y="4498848"/>
            <a:ext cx="6583680" cy="320040"/>
          </a:xfrm>
          <a:prstGeom prst="rect">
            <a:avLst/>
          </a:prstGeom>
          <a:noFill/>
        </p:spPr>
        <p:txBody>
          <a:bodyPr wrap="square">
            <a:spAutoFit/>
          </a:bodyPr>
          <a:lstStyle/>
          <a:p>
            <a:pPr algn="l">
              <a:defRPr sz="1200" b="0">
                <a:solidFill>
                  <a:srgbClr val="0A66C2"/>
                </a:solidFill>
              </a:defRPr>
            </a:pPr>
            <a:r>
              <a:t>https://icons.getbootstrap.com/</a:t>
            </a:r>
          </a:p>
        </p:txBody>
      </p:sp>
      <p:sp>
        <p:nvSpPr>
          <p:cNvPr id="25" name="TextBox 24"/>
          <p:cNvSpPr txBox="1"/>
          <p:nvPr/>
        </p:nvSpPr>
        <p:spPr>
          <a:xfrm>
            <a:off x="548640" y="4846320"/>
            <a:ext cx="4572000" cy="320040"/>
          </a:xfrm>
          <a:prstGeom prst="rect">
            <a:avLst/>
          </a:prstGeom>
          <a:noFill/>
        </p:spPr>
        <p:txBody>
          <a:bodyPr wrap="square">
            <a:spAutoFit/>
          </a:bodyPr>
          <a:lstStyle/>
          <a:p>
            <a:pPr algn="l">
              <a:defRPr sz="1300" b="1">
                <a:solidFill>
                  <a:srgbClr val="1A1A2E"/>
                </a:solidFill>
              </a:defRPr>
            </a:pPr>
            <a:r>
              <a:t>Mermaid.js (diagrammes dans les livrables)</a:t>
            </a:r>
          </a:p>
        </p:txBody>
      </p:sp>
      <p:sp>
        <p:nvSpPr>
          <p:cNvPr id="26" name="TextBox 25"/>
          <p:cNvSpPr txBox="1"/>
          <p:nvPr/>
        </p:nvSpPr>
        <p:spPr>
          <a:xfrm>
            <a:off x="5120640" y="4846320"/>
            <a:ext cx="6583680" cy="320040"/>
          </a:xfrm>
          <a:prstGeom prst="rect">
            <a:avLst/>
          </a:prstGeom>
          <a:noFill/>
        </p:spPr>
        <p:txBody>
          <a:bodyPr wrap="square">
            <a:spAutoFit/>
          </a:bodyPr>
          <a:lstStyle/>
          <a:p>
            <a:pPr algn="l">
              <a:defRPr sz="1200" b="0">
                <a:solidFill>
                  <a:srgbClr val="0A66C2"/>
                </a:solidFill>
              </a:defRPr>
            </a:pPr>
            <a:r>
              <a:t>https://mermaid.js.org/</a:t>
            </a:r>
          </a:p>
        </p:txBody>
      </p:sp>
      <p:sp>
        <p:nvSpPr>
          <p:cNvPr id="27" name="TextBox 26"/>
          <p:cNvSpPr txBox="1"/>
          <p:nvPr/>
        </p:nvSpPr>
        <p:spPr>
          <a:xfrm>
            <a:off x="548640" y="5193792"/>
            <a:ext cx="4572000" cy="320040"/>
          </a:xfrm>
          <a:prstGeom prst="rect">
            <a:avLst/>
          </a:prstGeom>
          <a:noFill/>
        </p:spPr>
        <p:txBody>
          <a:bodyPr wrap="square">
            <a:spAutoFit/>
          </a:bodyPr>
          <a:lstStyle/>
          <a:p>
            <a:pPr algn="l">
              <a:defRPr sz="1300" b="1">
                <a:solidFill>
                  <a:srgbClr val="1A1A2E"/>
                </a:solidFill>
              </a:defRPr>
            </a:pPr>
            <a:r>
              <a:t>OpenClassrooms — Concevez votre site web avec PHP et MySQL</a:t>
            </a:r>
          </a:p>
        </p:txBody>
      </p:sp>
      <p:sp>
        <p:nvSpPr>
          <p:cNvPr id="28" name="TextBox 27"/>
          <p:cNvSpPr txBox="1"/>
          <p:nvPr/>
        </p:nvSpPr>
        <p:spPr>
          <a:xfrm>
            <a:off x="5120640" y="5193792"/>
            <a:ext cx="6583680" cy="320040"/>
          </a:xfrm>
          <a:prstGeom prst="rect">
            <a:avLst/>
          </a:prstGeom>
          <a:noFill/>
        </p:spPr>
        <p:txBody>
          <a:bodyPr wrap="square">
            <a:spAutoFit/>
          </a:bodyPr>
          <a:lstStyle/>
          <a:p>
            <a:pPr algn="l">
              <a:defRPr sz="1200" b="0">
                <a:solidFill>
                  <a:srgbClr val="0A66C2"/>
                </a:solidFill>
              </a:defRPr>
            </a:pPr>
            <a:r>
              <a:t>https://openclassrooms.com/</a:t>
            </a:r>
          </a:p>
        </p:txBody>
      </p:sp>
      <p:sp>
        <p:nvSpPr>
          <p:cNvPr id="29" name="TextBox 28"/>
          <p:cNvSpPr txBox="1"/>
          <p:nvPr/>
        </p:nvSpPr>
        <p:spPr>
          <a:xfrm>
            <a:off x="548640" y="5541264"/>
            <a:ext cx="4572000" cy="320040"/>
          </a:xfrm>
          <a:prstGeom prst="rect">
            <a:avLst/>
          </a:prstGeom>
          <a:noFill/>
        </p:spPr>
        <p:txBody>
          <a:bodyPr wrap="square">
            <a:spAutoFit/>
          </a:bodyPr>
          <a:lstStyle/>
          <a:p>
            <a:pPr algn="l">
              <a:defRPr sz="1300" b="1">
                <a:solidFill>
                  <a:srgbClr val="1A1A2E"/>
                </a:solidFill>
              </a:defRPr>
            </a:pPr>
            <a:r>
              <a:t>Wireframing Guide (Envato Tuts+)</a:t>
            </a:r>
          </a:p>
        </p:txBody>
      </p:sp>
      <p:sp>
        <p:nvSpPr>
          <p:cNvPr id="30" name="TextBox 29"/>
          <p:cNvSpPr txBox="1"/>
          <p:nvPr/>
        </p:nvSpPr>
        <p:spPr>
          <a:xfrm>
            <a:off x="5120640" y="5541264"/>
            <a:ext cx="6583680" cy="320040"/>
          </a:xfrm>
          <a:prstGeom prst="rect">
            <a:avLst/>
          </a:prstGeom>
          <a:noFill/>
        </p:spPr>
        <p:txBody>
          <a:bodyPr wrap="square">
            <a:spAutoFit/>
          </a:bodyPr>
          <a:lstStyle/>
          <a:p>
            <a:pPr algn="l">
              <a:defRPr sz="1200" b="0">
                <a:solidFill>
                  <a:srgbClr val="0A66C2"/>
                </a:solidFill>
              </a:defRPr>
            </a:pPr>
            <a:r>
              <a:t>https://webdesign.tutsplus.com/</a:t>
            </a:r>
          </a:p>
        </p:txBody>
      </p:sp>
      <p:sp>
        <p:nvSpPr>
          <p:cNvPr id="31" name="TextBox 30"/>
          <p:cNvSpPr txBox="1"/>
          <p:nvPr/>
        </p:nvSpPr>
        <p:spPr>
          <a:xfrm>
            <a:off x="548640" y="5888736"/>
            <a:ext cx="4572000" cy="320040"/>
          </a:xfrm>
          <a:prstGeom prst="rect">
            <a:avLst/>
          </a:prstGeom>
          <a:noFill/>
        </p:spPr>
        <p:txBody>
          <a:bodyPr wrap="square">
            <a:spAutoFit/>
          </a:bodyPr>
          <a:lstStyle/>
          <a:p>
            <a:pPr algn="l">
              <a:defRPr sz="1300" b="1">
                <a:solidFill>
                  <a:srgbClr val="1A1A2E"/>
                </a:solidFill>
              </a:defRPr>
            </a:pPr>
            <a:r>
              <a:t>Cursor IDE + Claude (assistance IA)</a:t>
            </a:r>
          </a:p>
        </p:txBody>
      </p:sp>
      <p:sp>
        <p:nvSpPr>
          <p:cNvPr id="32" name="TextBox 31"/>
          <p:cNvSpPr txBox="1"/>
          <p:nvPr/>
        </p:nvSpPr>
        <p:spPr>
          <a:xfrm>
            <a:off x="5120640" y="5888736"/>
            <a:ext cx="6583680" cy="320040"/>
          </a:xfrm>
          <a:prstGeom prst="rect">
            <a:avLst/>
          </a:prstGeom>
          <a:noFill/>
        </p:spPr>
        <p:txBody>
          <a:bodyPr wrap="square">
            <a:spAutoFit/>
          </a:bodyPr>
          <a:lstStyle/>
          <a:p>
            <a:pPr algn="l">
              <a:defRPr sz="1200" b="0">
                <a:solidFill>
                  <a:srgbClr val="0A66C2"/>
                </a:solidFill>
              </a:defRPr>
            </a:pPr>
            <a:r>
              <a:t>https://cursor.sh/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0" y="1828800"/>
            <a:ext cx="12191695" cy="640080"/>
          </a:xfrm>
          <a:prstGeom prst="rect">
            <a:avLst/>
          </a:prstGeom>
          <a:noFill/>
        </p:spPr>
        <p:txBody>
          <a:bodyPr wrap="square">
            <a:spAutoFit/>
          </a:bodyPr>
          <a:lstStyle/>
          <a:p>
            <a:pPr algn="ctr">
              <a:defRPr sz="5400" b="1">
                <a:solidFill>
                  <a:srgbClr val="0A66C2"/>
                </a:solidFill>
              </a:defRPr>
            </a:pPr>
            <a:r>
              <a:t>ECE In</a:t>
            </a:r>
          </a:p>
        </p:txBody>
      </p:sp>
      <p:sp>
        <p:nvSpPr>
          <p:cNvPr id="3" name="TextBox 2"/>
          <p:cNvSpPr txBox="1"/>
          <p:nvPr/>
        </p:nvSpPr>
        <p:spPr>
          <a:xfrm>
            <a:off x="0" y="2743200"/>
            <a:ext cx="12191695" cy="548640"/>
          </a:xfrm>
          <a:prstGeom prst="rect">
            <a:avLst/>
          </a:prstGeom>
          <a:noFill/>
        </p:spPr>
        <p:txBody>
          <a:bodyPr wrap="square">
            <a:spAutoFit/>
          </a:bodyPr>
          <a:lstStyle/>
          <a:p>
            <a:pPr algn="ctr">
              <a:defRPr sz="3200" b="1">
                <a:solidFill>
                  <a:srgbClr val="FFFFFF"/>
                </a:solidFill>
              </a:defRPr>
            </a:pPr>
            <a:r>
              <a:t>Merci de votre attention</a:t>
            </a:r>
          </a:p>
        </p:txBody>
      </p:sp>
      <p:sp>
        <p:nvSpPr>
          <p:cNvPr id="4" name="TextBox 3"/>
          <p:cNvSpPr txBox="1"/>
          <p:nvPr/>
        </p:nvSpPr>
        <p:spPr>
          <a:xfrm>
            <a:off x="0" y="3657600"/>
            <a:ext cx="12191695" cy="457200"/>
          </a:xfrm>
          <a:prstGeom prst="rect">
            <a:avLst/>
          </a:prstGeom>
          <a:noFill/>
        </p:spPr>
        <p:txBody>
          <a:bodyPr wrap="square">
            <a:spAutoFit/>
          </a:bodyPr>
          <a:lstStyle/>
          <a:p>
            <a:pPr algn="ctr">
              <a:defRPr sz="2000" b="0">
                <a:solidFill>
                  <a:srgbClr val="AAAACC"/>
                </a:solidFill>
              </a:defRPr>
            </a:pPr>
            <a:r>
              <a:t>Emmanuel ZERBIB  &amp;  Nikola VUCIC</a:t>
            </a:r>
          </a:p>
        </p:txBody>
      </p:sp>
      <p:sp>
        <p:nvSpPr>
          <p:cNvPr id="5" name="TextBox 4"/>
          <p:cNvSpPr txBox="1"/>
          <p:nvPr/>
        </p:nvSpPr>
        <p:spPr>
          <a:xfrm>
            <a:off x="0" y="4572000"/>
            <a:ext cx="12191695" cy="365760"/>
          </a:xfrm>
          <a:prstGeom prst="rect">
            <a:avLst/>
          </a:prstGeom>
          <a:noFill/>
        </p:spPr>
        <p:txBody>
          <a:bodyPr wrap="square">
            <a:spAutoFit/>
          </a:bodyPr>
          <a:lstStyle/>
          <a:p>
            <a:pPr algn="ctr">
              <a:defRPr sz="1600" b="0">
                <a:solidFill>
                  <a:srgbClr val="0A66C2"/>
                </a:solidFill>
              </a:defRPr>
            </a:pPr>
            <a:r>
              <a:t>https://github.com/EmmanuelZerb/projet-web-2026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